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38"/>
        </a:solidFill>
      </p:bgPr>
    </p:bg>
    <p:spTree>
      <p:nvGrpSpPr>
        <p:cNvPr id="1" name=""/>
        <p:cNvGrpSpPr/>
        <p:nvPr/>
      </p:nvGrpSpPr>
      <p:grpSpPr>
        <a:xfrm>
          <a:off x="0" y="0"/>
          <a:ext cx="0" cy="0"/>
          <a:chOff x="0" y="0"/>
          <a:chExt cx="0" cy="0"/>
        </a:xfrm>
      </p:grpSpPr>
      <p:sp>
        <p:nvSpPr>
          <p:cNvPr id="2" name="Text 0"/>
          <p:cNvSpPr/>
          <p:nvPr/>
        </p:nvSpPr>
        <p:spPr>
          <a:xfrm>
            <a:off x="731520" y="1280160"/>
            <a:ext cx="5486400" cy="274320"/>
          </a:xfrm>
          <a:prstGeom prst="rect">
            <a:avLst/>
          </a:prstGeom>
          <a:noFill/>
          <a:ln/>
        </p:spPr>
        <p:txBody>
          <a:bodyPr wrap="square" lIns="0" tIns="0" rIns="0" bIns="0" rtlCol="0" anchor="ctr"/>
          <a:lstStyle/>
          <a:p>
            <a:pPr indent="0" marL="0">
              <a:buNone/>
            </a:pPr>
            <a:r>
              <a:rPr lang="en-US" sz="1200" b="1" spc="600" kern="0" dirty="0">
                <a:solidFill>
                  <a:srgbClr val="CADCFC"/>
                </a:solidFill>
                <a:latin typeface="Calibri" pitchFamily="34" charset="0"/>
                <a:ea typeface="Calibri" pitchFamily="34" charset="-122"/>
                <a:cs typeface="Calibri" pitchFamily="34" charset="-120"/>
              </a:rPr>
              <a:t>PROJECT</a:t>
            </a:r>
            <a:endParaRPr lang="en-US" sz="1200" dirty="0"/>
          </a:p>
        </p:txBody>
      </p:sp>
      <p:sp>
        <p:nvSpPr>
          <p:cNvPr id="3" name="Text 1"/>
          <p:cNvSpPr/>
          <p:nvPr/>
        </p:nvSpPr>
        <p:spPr>
          <a:xfrm>
            <a:off x="731520" y="169164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Agentic Contract Review</a:t>
            </a:r>
            <a:endParaRPr lang="en-US" sz="5400" dirty="0"/>
          </a:p>
        </p:txBody>
      </p:sp>
      <p:sp>
        <p:nvSpPr>
          <p:cNvPr id="4" name="Text 2"/>
          <p:cNvSpPr/>
          <p:nvPr/>
        </p:nvSpPr>
        <p:spPr>
          <a:xfrm>
            <a:off x="731520" y="2926080"/>
            <a:ext cx="10058400" cy="146304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A working sketch of governed legal AI infrastructure — multi-agent, with human-in-the-loop gates, hallucination detection, and a complete audit trail.</a:t>
            </a:r>
            <a:endParaRPr lang="en-US" sz="2000" dirty="0"/>
          </a:p>
        </p:txBody>
      </p:sp>
      <p:sp>
        <p:nvSpPr>
          <p:cNvPr id="5" name="Shape 3"/>
          <p:cNvSpPr/>
          <p:nvPr/>
        </p:nvSpPr>
        <p:spPr>
          <a:xfrm>
            <a:off x="731520" y="5303520"/>
            <a:ext cx="914400" cy="0"/>
          </a:xfrm>
          <a:prstGeom prst="line">
            <a:avLst/>
          </a:prstGeom>
          <a:noFill/>
          <a:ln w="19050">
            <a:solidFill>
              <a:srgbClr val="CADCFC"/>
            </a:solidFill>
            <a:prstDash val="solid"/>
          </a:ln>
        </p:spPr>
      </p:sp>
      <p:sp>
        <p:nvSpPr>
          <p:cNvPr id="6" name="Text 4"/>
          <p:cNvSpPr/>
          <p:nvPr/>
        </p:nvSpPr>
        <p:spPr>
          <a:xfrm>
            <a:off x="731520" y="544068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David Yamin</a:t>
            </a:r>
            <a:endParaRPr lang="en-US" sz="1600" dirty="0"/>
          </a:p>
        </p:txBody>
      </p:sp>
      <p:sp>
        <p:nvSpPr>
          <p:cNvPr id="7" name="Text 5"/>
          <p:cNvSpPr/>
          <p:nvPr/>
        </p:nvSpPr>
        <p:spPr>
          <a:xfrm>
            <a:off x="731520" y="5779008"/>
            <a:ext cx="91440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Lawyer · Data scientist · github.com/david-yamin-esq/agentic-contract-review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10972800" cy="64008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What it is</a:t>
            </a:r>
            <a:endParaRPr lang="en-US" sz="3600" dirty="0"/>
          </a:p>
        </p:txBody>
      </p:sp>
      <p:sp>
        <p:nvSpPr>
          <p:cNvPr id="3" name="Text 1"/>
          <p:cNvSpPr/>
          <p:nvPr/>
        </p:nvSpPr>
        <p:spPr>
          <a:xfrm>
            <a:off x="731520" y="1325880"/>
            <a:ext cx="10515600" cy="822960"/>
          </a:xfrm>
          <a:prstGeom prst="rect">
            <a:avLst/>
          </a:prstGeom>
          <a:noFill/>
          <a:ln/>
        </p:spPr>
        <p:txBody>
          <a:bodyPr wrap="square" lIns="0" tIns="0" rIns="0" bIns="0" rtlCol="0" anchor="ctr"/>
          <a:lstStyle/>
          <a:p>
            <a:pPr indent="0" marL="0">
              <a:buNone/>
            </a:pPr>
            <a:r>
              <a:rPr lang="en-US" sz="1600" dirty="0">
                <a:solidFill>
                  <a:srgbClr val="475569"/>
                </a:solidFill>
                <a:latin typeface="Calibri" pitchFamily="34" charset="0"/>
                <a:ea typeface="Calibri" pitchFamily="34" charset="-122"/>
                <a:cs typeface="Calibri" pitchFamily="34" charset="-120"/>
              </a:rPr>
              <a:t>A multi-agent contract review pipeline. A contract goes in; a risk-scored, redlined report comes out. If anything looks wrong, the pipeline pauses and routes to a human reviewer before finalizing.</a:t>
            </a:r>
            <a:endParaRPr lang="en-US" sz="1600" dirty="0"/>
          </a:p>
        </p:txBody>
      </p:sp>
      <p:sp>
        <p:nvSpPr>
          <p:cNvPr id="4" name="Shape 2"/>
          <p:cNvSpPr/>
          <p:nvPr/>
        </p:nvSpPr>
        <p:spPr>
          <a:xfrm>
            <a:off x="548640" y="2743200"/>
            <a:ext cx="2103120" cy="3291840"/>
          </a:xfrm>
          <a:prstGeom prst="rect">
            <a:avLst/>
          </a:prstGeom>
          <a:solidFill>
            <a:srgbClr val="CADCFC">
              <a:alpha val="30000"/>
            </a:srgbClr>
          </a:solidFill>
          <a:ln w="12700">
            <a:solidFill>
              <a:srgbClr val="CADCFC"/>
            </a:solidFill>
            <a:prstDash val="solid"/>
          </a:ln>
        </p:spPr>
      </p:sp>
      <p:sp>
        <p:nvSpPr>
          <p:cNvPr id="5" name="Shape 3"/>
          <p:cNvSpPr/>
          <p:nvPr/>
        </p:nvSpPr>
        <p:spPr>
          <a:xfrm>
            <a:off x="548640" y="2743200"/>
            <a:ext cx="73152" cy="3291840"/>
          </a:xfrm>
          <a:prstGeom prst="rect">
            <a:avLst/>
          </a:prstGeom>
          <a:solidFill>
            <a:srgbClr val="1E2761"/>
          </a:solidFill>
          <a:ln w="12700">
            <a:solidFill>
              <a:srgbClr val="1E2761"/>
            </a:solidFill>
            <a:prstDash val="solid"/>
          </a:ln>
        </p:spPr>
      </p:sp>
      <p:sp>
        <p:nvSpPr>
          <p:cNvPr id="6" name="Text 4"/>
          <p:cNvSpPr/>
          <p:nvPr/>
        </p:nvSpPr>
        <p:spPr>
          <a:xfrm>
            <a:off x="822960" y="3017520"/>
            <a:ext cx="173736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822960" y="3520440"/>
            <a:ext cx="1737360" cy="6400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Multi-agent</a:t>
            </a:r>
            <a:endParaRPr lang="en-US" sz="1800" dirty="0"/>
          </a:p>
        </p:txBody>
      </p:sp>
      <p:sp>
        <p:nvSpPr>
          <p:cNvPr id="8" name="Text 6"/>
          <p:cNvSpPr/>
          <p:nvPr/>
        </p:nvSpPr>
        <p:spPr>
          <a:xfrm>
            <a:off x="822960" y="4297680"/>
            <a:ext cx="1737360" cy="160020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Five specialized agents wired into a stateful graph, not a single mega-prompt.</a:t>
            </a:r>
            <a:endParaRPr lang="en-US" sz="1200" dirty="0"/>
          </a:p>
        </p:txBody>
      </p:sp>
      <p:sp>
        <p:nvSpPr>
          <p:cNvPr id="9" name="Shape 7"/>
          <p:cNvSpPr/>
          <p:nvPr/>
        </p:nvSpPr>
        <p:spPr>
          <a:xfrm>
            <a:off x="2788920" y="2743200"/>
            <a:ext cx="2103120" cy="3291840"/>
          </a:xfrm>
          <a:prstGeom prst="rect">
            <a:avLst/>
          </a:prstGeom>
          <a:solidFill>
            <a:srgbClr val="CADCFC">
              <a:alpha val="30000"/>
            </a:srgbClr>
          </a:solidFill>
          <a:ln w="12700">
            <a:solidFill>
              <a:srgbClr val="CADCFC"/>
            </a:solidFill>
            <a:prstDash val="solid"/>
          </a:ln>
        </p:spPr>
      </p:sp>
      <p:sp>
        <p:nvSpPr>
          <p:cNvPr id="10" name="Shape 8"/>
          <p:cNvSpPr/>
          <p:nvPr/>
        </p:nvSpPr>
        <p:spPr>
          <a:xfrm>
            <a:off x="2788920" y="2743200"/>
            <a:ext cx="73152" cy="3291840"/>
          </a:xfrm>
          <a:prstGeom prst="rect">
            <a:avLst/>
          </a:prstGeom>
          <a:solidFill>
            <a:srgbClr val="1E2761"/>
          </a:solidFill>
          <a:ln w="12700">
            <a:solidFill>
              <a:srgbClr val="1E2761"/>
            </a:solidFill>
            <a:prstDash val="solid"/>
          </a:ln>
        </p:spPr>
      </p:sp>
      <p:sp>
        <p:nvSpPr>
          <p:cNvPr id="11" name="Text 9"/>
          <p:cNvSpPr/>
          <p:nvPr/>
        </p:nvSpPr>
        <p:spPr>
          <a:xfrm>
            <a:off x="3063240" y="3017520"/>
            <a:ext cx="173736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3063240" y="3520440"/>
            <a:ext cx="1737360" cy="6400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RAG playbook</a:t>
            </a:r>
            <a:endParaRPr lang="en-US" sz="1800" dirty="0"/>
          </a:p>
        </p:txBody>
      </p:sp>
      <p:sp>
        <p:nvSpPr>
          <p:cNvPr id="13" name="Text 11"/>
          <p:cNvSpPr/>
          <p:nvPr/>
        </p:nvSpPr>
        <p:spPr>
          <a:xfrm>
            <a:off x="3063240" y="4297680"/>
            <a:ext cx="1737360" cy="160020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Per-clause retrieval against an embedded playbook, not whole-document comparison.</a:t>
            </a:r>
            <a:endParaRPr lang="en-US" sz="1200" dirty="0"/>
          </a:p>
        </p:txBody>
      </p:sp>
      <p:sp>
        <p:nvSpPr>
          <p:cNvPr id="14" name="Shape 12"/>
          <p:cNvSpPr/>
          <p:nvPr/>
        </p:nvSpPr>
        <p:spPr>
          <a:xfrm>
            <a:off x="5029200" y="2743200"/>
            <a:ext cx="2103120" cy="3291840"/>
          </a:xfrm>
          <a:prstGeom prst="rect">
            <a:avLst/>
          </a:prstGeom>
          <a:solidFill>
            <a:srgbClr val="CADCFC">
              <a:alpha val="30000"/>
            </a:srgbClr>
          </a:solidFill>
          <a:ln w="12700">
            <a:solidFill>
              <a:srgbClr val="CADCFC"/>
            </a:solidFill>
            <a:prstDash val="solid"/>
          </a:ln>
        </p:spPr>
      </p:sp>
      <p:sp>
        <p:nvSpPr>
          <p:cNvPr id="15" name="Shape 13"/>
          <p:cNvSpPr/>
          <p:nvPr/>
        </p:nvSpPr>
        <p:spPr>
          <a:xfrm>
            <a:off x="5029200" y="2743200"/>
            <a:ext cx="73152" cy="3291840"/>
          </a:xfrm>
          <a:prstGeom prst="rect">
            <a:avLst/>
          </a:prstGeom>
          <a:solidFill>
            <a:srgbClr val="1E2761"/>
          </a:solidFill>
          <a:ln w="12700">
            <a:solidFill>
              <a:srgbClr val="1E2761"/>
            </a:solidFill>
            <a:prstDash val="solid"/>
          </a:ln>
        </p:spPr>
      </p:sp>
      <p:sp>
        <p:nvSpPr>
          <p:cNvPr id="16" name="Text 14"/>
          <p:cNvSpPr/>
          <p:nvPr/>
        </p:nvSpPr>
        <p:spPr>
          <a:xfrm>
            <a:off x="5303520" y="3017520"/>
            <a:ext cx="173736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5303520" y="3520440"/>
            <a:ext cx="1737360" cy="6400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HITL gates</a:t>
            </a:r>
            <a:endParaRPr lang="en-US" sz="1800" dirty="0"/>
          </a:p>
        </p:txBody>
      </p:sp>
      <p:sp>
        <p:nvSpPr>
          <p:cNvPr id="18" name="Text 16"/>
          <p:cNvSpPr/>
          <p:nvPr/>
        </p:nvSpPr>
        <p:spPr>
          <a:xfrm>
            <a:off x="5303520" y="4297680"/>
            <a:ext cx="1737360" cy="160020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Pause-and-resume at risk thresholds, with reviewer overrides written back to state.</a:t>
            </a:r>
            <a:endParaRPr lang="en-US" sz="1200" dirty="0"/>
          </a:p>
        </p:txBody>
      </p:sp>
      <p:sp>
        <p:nvSpPr>
          <p:cNvPr id="19" name="Shape 17"/>
          <p:cNvSpPr/>
          <p:nvPr/>
        </p:nvSpPr>
        <p:spPr>
          <a:xfrm>
            <a:off x="7269480" y="2743200"/>
            <a:ext cx="2103120" cy="3291840"/>
          </a:xfrm>
          <a:prstGeom prst="rect">
            <a:avLst/>
          </a:prstGeom>
          <a:solidFill>
            <a:srgbClr val="CADCFC">
              <a:alpha val="30000"/>
            </a:srgbClr>
          </a:solidFill>
          <a:ln w="12700">
            <a:solidFill>
              <a:srgbClr val="CADCFC"/>
            </a:solidFill>
            <a:prstDash val="solid"/>
          </a:ln>
        </p:spPr>
      </p:sp>
      <p:sp>
        <p:nvSpPr>
          <p:cNvPr id="20" name="Shape 18"/>
          <p:cNvSpPr/>
          <p:nvPr/>
        </p:nvSpPr>
        <p:spPr>
          <a:xfrm>
            <a:off x="7269480" y="2743200"/>
            <a:ext cx="73152" cy="3291840"/>
          </a:xfrm>
          <a:prstGeom prst="rect">
            <a:avLst/>
          </a:prstGeom>
          <a:solidFill>
            <a:srgbClr val="1E2761"/>
          </a:solidFill>
          <a:ln w="12700">
            <a:solidFill>
              <a:srgbClr val="1E2761"/>
            </a:solidFill>
            <a:prstDash val="solid"/>
          </a:ln>
        </p:spPr>
      </p:sp>
      <p:sp>
        <p:nvSpPr>
          <p:cNvPr id="21" name="Text 19"/>
          <p:cNvSpPr/>
          <p:nvPr/>
        </p:nvSpPr>
        <p:spPr>
          <a:xfrm>
            <a:off x="7543800" y="3017520"/>
            <a:ext cx="173736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04</a:t>
            </a:r>
            <a:endParaRPr lang="en-US" sz="1400" dirty="0"/>
          </a:p>
        </p:txBody>
      </p:sp>
      <p:sp>
        <p:nvSpPr>
          <p:cNvPr id="22" name="Text 20"/>
          <p:cNvSpPr/>
          <p:nvPr/>
        </p:nvSpPr>
        <p:spPr>
          <a:xfrm>
            <a:off x="7543800" y="3520440"/>
            <a:ext cx="1737360" cy="6400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Hallucination check</a:t>
            </a:r>
            <a:endParaRPr lang="en-US" sz="1800" dirty="0"/>
          </a:p>
        </p:txBody>
      </p:sp>
      <p:sp>
        <p:nvSpPr>
          <p:cNvPr id="23" name="Text 21"/>
          <p:cNvSpPr/>
          <p:nvPr/>
        </p:nvSpPr>
        <p:spPr>
          <a:xfrm>
            <a:off x="7543800" y="4297680"/>
            <a:ext cx="1737360" cy="160020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Independent verifier agent — quote fidelity and rationale support.</a:t>
            </a:r>
            <a:endParaRPr lang="en-US" sz="1200" dirty="0"/>
          </a:p>
        </p:txBody>
      </p:sp>
      <p:sp>
        <p:nvSpPr>
          <p:cNvPr id="24" name="Shape 22"/>
          <p:cNvSpPr/>
          <p:nvPr/>
        </p:nvSpPr>
        <p:spPr>
          <a:xfrm>
            <a:off x="9509760" y="2743200"/>
            <a:ext cx="2103120" cy="3291840"/>
          </a:xfrm>
          <a:prstGeom prst="rect">
            <a:avLst/>
          </a:prstGeom>
          <a:solidFill>
            <a:srgbClr val="CADCFC">
              <a:alpha val="30000"/>
            </a:srgbClr>
          </a:solidFill>
          <a:ln w="12700">
            <a:solidFill>
              <a:srgbClr val="CADCFC"/>
            </a:solidFill>
            <a:prstDash val="solid"/>
          </a:ln>
        </p:spPr>
      </p:sp>
      <p:sp>
        <p:nvSpPr>
          <p:cNvPr id="25" name="Shape 23"/>
          <p:cNvSpPr/>
          <p:nvPr/>
        </p:nvSpPr>
        <p:spPr>
          <a:xfrm>
            <a:off x="9509760" y="2743200"/>
            <a:ext cx="73152" cy="3291840"/>
          </a:xfrm>
          <a:prstGeom prst="rect">
            <a:avLst/>
          </a:prstGeom>
          <a:solidFill>
            <a:srgbClr val="1E2761"/>
          </a:solidFill>
          <a:ln w="12700">
            <a:solidFill>
              <a:srgbClr val="1E2761"/>
            </a:solidFill>
            <a:prstDash val="solid"/>
          </a:ln>
        </p:spPr>
      </p:sp>
      <p:sp>
        <p:nvSpPr>
          <p:cNvPr id="26" name="Text 24"/>
          <p:cNvSpPr/>
          <p:nvPr/>
        </p:nvSpPr>
        <p:spPr>
          <a:xfrm>
            <a:off x="9784080" y="3017520"/>
            <a:ext cx="1737360" cy="45720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05</a:t>
            </a:r>
            <a:endParaRPr lang="en-US" sz="1400" dirty="0"/>
          </a:p>
        </p:txBody>
      </p:sp>
      <p:sp>
        <p:nvSpPr>
          <p:cNvPr id="27" name="Text 25"/>
          <p:cNvSpPr/>
          <p:nvPr/>
        </p:nvSpPr>
        <p:spPr>
          <a:xfrm>
            <a:off x="9784080" y="3520440"/>
            <a:ext cx="1737360" cy="64008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Audit trail</a:t>
            </a:r>
            <a:endParaRPr lang="en-US" sz="1800" dirty="0"/>
          </a:p>
        </p:txBody>
      </p:sp>
      <p:sp>
        <p:nvSpPr>
          <p:cNvPr id="28" name="Text 26"/>
          <p:cNvSpPr/>
          <p:nvPr/>
        </p:nvSpPr>
        <p:spPr>
          <a:xfrm>
            <a:off x="9784080" y="4297680"/>
            <a:ext cx="1737360" cy="160020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Every LLM call, retrieval, and human decision logged with prompt versions.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10972800" cy="64008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Pipeline architecture</a:t>
            </a:r>
            <a:endParaRPr lang="en-US" sz="3600" dirty="0"/>
          </a:p>
        </p:txBody>
      </p:sp>
      <p:sp>
        <p:nvSpPr>
          <p:cNvPr id="3" name="Text 1"/>
          <p:cNvSpPr/>
          <p:nvPr/>
        </p:nvSpPr>
        <p:spPr>
          <a:xfrm>
            <a:off x="731520" y="1325880"/>
            <a:ext cx="10515600" cy="64008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Each stage is a separate agent with one job. State flows between them through a typed graph; no agent calls another directly.</a:t>
            </a:r>
            <a:endParaRPr lang="en-US" sz="1500" dirty="0"/>
          </a:p>
        </p:txBody>
      </p:sp>
      <p:sp>
        <p:nvSpPr>
          <p:cNvPr id="4" name="Shape 2"/>
          <p:cNvSpPr/>
          <p:nvPr/>
        </p:nvSpPr>
        <p:spPr>
          <a:xfrm>
            <a:off x="1005840" y="2560320"/>
            <a:ext cx="1737360" cy="914400"/>
          </a:xfrm>
          <a:prstGeom prst="roundRect">
            <a:avLst>
              <a:gd name="adj" fmla="val 8000"/>
            </a:avLst>
          </a:prstGeom>
          <a:solidFill>
            <a:srgbClr val="1E2761"/>
          </a:solidFill>
          <a:ln w="12700">
            <a:solidFill>
              <a:srgbClr val="1E2761"/>
            </a:solidFill>
            <a:prstDash val="solid"/>
          </a:ln>
        </p:spPr>
      </p:sp>
      <p:sp>
        <p:nvSpPr>
          <p:cNvPr id="5" name="Text 3"/>
          <p:cNvSpPr/>
          <p:nvPr/>
        </p:nvSpPr>
        <p:spPr>
          <a:xfrm>
            <a:off x="1005840" y="2743200"/>
            <a:ext cx="17373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Classify</a:t>
            </a:r>
            <a:endParaRPr lang="en-US" sz="1800" dirty="0"/>
          </a:p>
        </p:txBody>
      </p:sp>
      <p:sp>
        <p:nvSpPr>
          <p:cNvPr id="6" name="Text 4"/>
          <p:cNvSpPr/>
          <p:nvPr/>
        </p:nvSpPr>
        <p:spPr>
          <a:xfrm>
            <a:off x="1005840" y="3127248"/>
            <a:ext cx="1737360" cy="2743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Contract type</a:t>
            </a:r>
            <a:endParaRPr lang="en-US" sz="1100" dirty="0"/>
          </a:p>
        </p:txBody>
      </p:sp>
      <p:sp>
        <p:nvSpPr>
          <p:cNvPr id="7" name="Shape 5"/>
          <p:cNvSpPr/>
          <p:nvPr/>
        </p:nvSpPr>
        <p:spPr>
          <a:xfrm>
            <a:off x="2788920" y="3017520"/>
            <a:ext cx="274320" cy="0"/>
          </a:xfrm>
          <a:prstGeom prst="line">
            <a:avLst/>
          </a:prstGeom>
          <a:noFill/>
          <a:ln w="19050">
            <a:solidFill>
              <a:srgbClr val="1E2761"/>
            </a:solidFill>
            <a:prstDash val="solid"/>
            <a:tailEnd type="triangle"/>
          </a:ln>
        </p:spPr>
      </p:sp>
      <p:sp>
        <p:nvSpPr>
          <p:cNvPr id="8" name="Shape 6"/>
          <p:cNvSpPr/>
          <p:nvPr/>
        </p:nvSpPr>
        <p:spPr>
          <a:xfrm>
            <a:off x="3108960" y="2560320"/>
            <a:ext cx="1737360" cy="914400"/>
          </a:xfrm>
          <a:prstGeom prst="roundRect">
            <a:avLst>
              <a:gd name="adj" fmla="val 8000"/>
            </a:avLst>
          </a:prstGeom>
          <a:solidFill>
            <a:srgbClr val="1E2761"/>
          </a:solidFill>
          <a:ln w="12700">
            <a:solidFill>
              <a:srgbClr val="1E2761"/>
            </a:solidFill>
            <a:prstDash val="solid"/>
          </a:ln>
        </p:spPr>
      </p:sp>
      <p:sp>
        <p:nvSpPr>
          <p:cNvPr id="9" name="Text 7"/>
          <p:cNvSpPr/>
          <p:nvPr/>
        </p:nvSpPr>
        <p:spPr>
          <a:xfrm>
            <a:off x="3108960" y="2743200"/>
            <a:ext cx="17373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Extract</a:t>
            </a:r>
            <a:endParaRPr lang="en-US" sz="1800" dirty="0"/>
          </a:p>
        </p:txBody>
      </p:sp>
      <p:sp>
        <p:nvSpPr>
          <p:cNvPr id="10" name="Text 8"/>
          <p:cNvSpPr/>
          <p:nvPr/>
        </p:nvSpPr>
        <p:spPr>
          <a:xfrm>
            <a:off x="3108960" y="3127248"/>
            <a:ext cx="1737360" cy="2743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Verbatim clauses</a:t>
            </a:r>
            <a:endParaRPr lang="en-US" sz="1100" dirty="0"/>
          </a:p>
        </p:txBody>
      </p:sp>
      <p:sp>
        <p:nvSpPr>
          <p:cNvPr id="11" name="Shape 9"/>
          <p:cNvSpPr/>
          <p:nvPr/>
        </p:nvSpPr>
        <p:spPr>
          <a:xfrm>
            <a:off x="4892040" y="3017520"/>
            <a:ext cx="274320" cy="0"/>
          </a:xfrm>
          <a:prstGeom prst="line">
            <a:avLst/>
          </a:prstGeom>
          <a:noFill/>
          <a:ln w="19050">
            <a:solidFill>
              <a:srgbClr val="1E2761"/>
            </a:solidFill>
            <a:prstDash val="solid"/>
            <a:tailEnd type="triangle"/>
          </a:ln>
        </p:spPr>
      </p:sp>
      <p:sp>
        <p:nvSpPr>
          <p:cNvPr id="12" name="Shape 10"/>
          <p:cNvSpPr/>
          <p:nvPr/>
        </p:nvSpPr>
        <p:spPr>
          <a:xfrm>
            <a:off x="5212080" y="2560320"/>
            <a:ext cx="1737360" cy="914400"/>
          </a:xfrm>
          <a:prstGeom prst="roundRect">
            <a:avLst>
              <a:gd name="adj" fmla="val 8000"/>
            </a:avLst>
          </a:prstGeom>
          <a:solidFill>
            <a:srgbClr val="1E2761"/>
          </a:solidFill>
          <a:ln w="12700">
            <a:solidFill>
              <a:srgbClr val="1E2761"/>
            </a:solidFill>
            <a:prstDash val="solid"/>
          </a:ln>
        </p:spPr>
      </p:sp>
      <p:sp>
        <p:nvSpPr>
          <p:cNvPr id="13" name="Text 11"/>
          <p:cNvSpPr/>
          <p:nvPr/>
        </p:nvSpPr>
        <p:spPr>
          <a:xfrm>
            <a:off x="5212080" y="2743200"/>
            <a:ext cx="17373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Compare</a:t>
            </a:r>
            <a:endParaRPr lang="en-US" sz="1800" dirty="0"/>
          </a:p>
        </p:txBody>
      </p:sp>
      <p:sp>
        <p:nvSpPr>
          <p:cNvPr id="14" name="Text 12"/>
          <p:cNvSpPr/>
          <p:nvPr/>
        </p:nvSpPr>
        <p:spPr>
          <a:xfrm>
            <a:off x="5212080" y="3127248"/>
            <a:ext cx="1737360" cy="2743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RAG vs playbook</a:t>
            </a:r>
            <a:endParaRPr lang="en-US" sz="1100" dirty="0"/>
          </a:p>
        </p:txBody>
      </p:sp>
      <p:sp>
        <p:nvSpPr>
          <p:cNvPr id="15" name="Shape 13"/>
          <p:cNvSpPr/>
          <p:nvPr/>
        </p:nvSpPr>
        <p:spPr>
          <a:xfrm>
            <a:off x="6995160" y="3017520"/>
            <a:ext cx="274320" cy="0"/>
          </a:xfrm>
          <a:prstGeom prst="line">
            <a:avLst/>
          </a:prstGeom>
          <a:noFill/>
          <a:ln w="19050">
            <a:solidFill>
              <a:srgbClr val="1E2761"/>
            </a:solidFill>
            <a:prstDash val="solid"/>
            <a:tailEnd type="triangle"/>
          </a:ln>
        </p:spPr>
      </p:sp>
      <p:sp>
        <p:nvSpPr>
          <p:cNvPr id="16" name="Shape 14"/>
          <p:cNvSpPr/>
          <p:nvPr/>
        </p:nvSpPr>
        <p:spPr>
          <a:xfrm>
            <a:off x="7315200" y="2560320"/>
            <a:ext cx="1737360" cy="914400"/>
          </a:xfrm>
          <a:prstGeom prst="roundRect">
            <a:avLst>
              <a:gd name="adj" fmla="val 8000"/>
            </a:avLst>
          </a:prstGeom>
          <a:solidFill>
            <a:srgbClr val="1E2761"/>
          </a:solidFill>
          <a:ln w="12700">
            <a:solidFill>
              <a:srgbClr val="1E2761"/>
            </a:solidFill>
            <a:prstDash val="solid"/>
          </a:ln>
        </p:spPr>
      </p:sp>
      <p:sp>
        <p:nvSpPr>
          <p:cNvPr id="17" name="Text 15"/>
          <p:cNvSpPr/>
          <p:nvPr/>
        </p:nvSpPr>
        <p:spPr>
          <a:xfrm>
            <a:off x="7315200" y="2743200"/>
            <a:ext cx="17373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Score</a:t>
            </a:r>
            <a:endParaRPr lang="en-US" sz="1800" dirty="0"/>
          </a:p>
        </p:txBody>
      </p:sp>
      <p:sp>
        <p:nvSpPr>
          <p:cNvPr id="18" name="Text 16"/>
          <p:cNvSpPr/>
          <p:nvPr/>
        </p:nvSpPr>
        <p:spPr>
          <a:xfrm>
            <a:off x="7315200" y="3127248"/>
            <a:ext cx="1737360" cy="2743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Risk 0–100</a:t>
            </a:r>
            <a:endParaRPr lang="en-US" sz="1100" dirty="0"/>
          </a:p>
        </p:txBody>
      </p:sp>
      <p:sp>
        <p:nvSpPr>
          <p:cNvPr id="19" name="Shape 17"/>
          <p:cNvSpPr/>
          <p:nvPr/>
        </p:nvSpPr>
        <p:spPr>
          <a:xfrm>
            <a:off x="9098280" y="3017520"/>
            <a:ext cx="274320" cy="0"/>
          </a:xfrm>
          <a:prstGeom prst="line">
            <a:avLst/>
          </a:prstGeom>
          <a:noFill/>
          <a:ln w="19050">
            <a:solidFill>
              <a:srgbClr val="1E2761"/>
            </a:solidFill>
            <a:prstDash val="solid"/>
            <a:tailEnd type="triangle"/>
          </a:ln>
        </p:spPr>
      </p:sp>
      <p:sp>
        <p:nvSpPr>
          <p:cNvPr id="20" name="Shape 18"/>
          <p:cNvSpPr/>
          <p:nvPr/>
        </p:nvSpPr>
        <p:spPr>
          <a:xfrm>
            <a:off x="9418320" y="2560320"/>
            <a:ext cx="1737360" cy="914400"/>
          </a:xfrm>
          <a:prstGeom prst="roundRect">
            <a:avLst>
              <a:gd name="adj" fmla="val 8000"/>
            </a:avLst>
          </a:prstGeom>
          <a:solidFill>
            <a:srgbClr val="1E2761"/>
          </a:solidFill>
          <a:ln w="12700">
            <a:solidFill>
              <a:srgbClr val="1E2761"/>
            </a:solidFill>
            <a:prstDash val="solid"/>
          </a:ln>
        </p:spPr>
      </p:sp>
      <p:sp>
        <p:nvSpPr>
          <p:cNvPr id="21" name="Text 19"/>
          <p:cNvSpPr/>
          <p:nvPr/>
        </p:nvSpPr>
        <p:spPr>
          <a:xfrm>
            <a:off x="9418320" y="2743200"/>
            <a:ext cx="173736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Verify</a:t>
            </a:r>
            <a:endParaRPr lang="en-US" sz="1800" dirty="0"/>
          </a:p>
        </p:txBody>
      </p:sp>
      <p:sp>
        <p:nvSpPr>
          <p:cNvPr id="22" name="Text 20"/>
          <p:cNvSpPr/>
          <p:nvPr/>
        </p:nvSpPr>
        <p:spPr>
          <a:xfrm>
            <a:off x="9418320" y="3127248"/>
            <a:ext cx="1737360" cy="27432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Hallucination check</a:t>
            </a:r>
            <a:endParaRPr lang="en-US" sz="1100" dirty="0"/>
          </a:p>
        </p:txBody>
      </p:sp>
      <p:sp>
        <p:nvSpPr>
          <p:cNvPr id="23" name="Shape 21"/>
          <p:cNvSpPr/>
          <p:nvPr/>
        </p:nvSpPr>
        <p:spPr>
          <a:xfrm>
            <a:off x="10287000" y="3474720"/>
            <a:ext cx="0" cy="411480"/>
          </a:xfrm>
          <a:prstGeom prst="line">
            <a:avLst/>
          </a:prstGeom>
          <a:noFill/>
          <a:ln w="19050">
            <a:solidFill>
              <a:srgbClr val="1E2761"/>
            </a:solidFill>
            <a:prstDash val="solid"/>
          </a:ln>
        </p:spPr>
      </p:sp>
      <p:sp>
        <p:nvSpPr>
          <p:cNvPr id="24" name="Text 22"/>
          <p:cNvSpPr/>
          <p:nvPr/>
        </p:nvSpPr>
        <p:spPr>
          <a:xfrm>
            <a:off x="8915400" y="3904488"/>
            <a:ext cx="2743200" cy="274320"/>
          </a:xfrm>
          <a:prstGeom prst="rect">
            <a:avLst/>
          </a:prstGeom>
          <a:noFill/>
          <a:ln/>
        </p:spPr>
        <p:txBody>
          <a:bodyPr wrap="square" lIns="0" tIns="0" rIns="0" bIns="0"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requires_human_review?</a:t>
            </a:r>
            <a:endParaRPr lang="en-US" sz="1100" dirty="0"/>
          </a:p>
        </p:txBody>
      </p:sp>
      <p:sp>
        <p:nvSpPr>
          <p:cNvPr id="25" name="Shape 23"/>
          <p:cNvSpPr/>
          <p:nvPr/>
        </p:nvSpPr>
        <p:spPr>
          <a:xfrm>
            <a:off x="4013302" y="4114800"/>
            <a:ext cx="4134917" cy="0"/>
          </a:xfrm>
          <a:prstGeom prst="line">
            <a:avLst/>
          </a:prstGeom>
          <a:noFill/>
          <a:ln w="12700">
            <a:solidFill>
              <a:srgbClr val="94A3B8"/>
            </a:solidFill>
            <a:prstDash val="solid"/>
          </a:ln>
        </p:spPr>
      </p:sp>
      <p:sp>
        <p:nvSpPr>
          <p:cNvPr id="26" name="Shape 24"/>
          <p:cNvSpPr/>
          <p:nvPr/>
        </p:nvSpPr>
        <p:spPr>
          <a:xfrm>
            <a:off x="4013302" y="4114800"/>
            <a:ext cx="0" cy="228600"/>
          </a:xfrm>
          <a:prstGeom prst="line">
            <a:avLst/>
          </a:prstGeom>
          <a:noFill/>
          <a:ln w="12700">
            <a:solidFill>
              <a:srgbClr val="94A3B8"/>
            </a:solidFill>
            <a:prstDash val="solid"/>
            <a:tailEnd type="triangle"/>
          </a:ln>
        </p:spPr>
      </p:sp>
      <p:sp>
        <p:nvSpPr>
          <p:cNvPr id="27" name="Shape 25"/>
          <p:cNvSpPr/>
          <p:nvPr/>
        </p:nvSpPr>
        <p:spPr>
          <a:xfrm>
            <a:off x="8148218" y="4114800"/>
            <a:ext cx="0" cy="228600"/>
          </a:xfrm>
          <a:prstGeom prst="line">
            <a:avLst/>
          </a:prstGeom>
          <a:noFill/>
          <a:ln w="12700">
            <a:solidFill>
              <a:srgbClr val="94A3B8"/>
            </a:solidFill>
            <a:prstDash val="solid"/>
            <a:tailEnd type="triangle"/>
          </a:ln>
        </p:spPr>
      </p:sp>
      <p:sp>
        <p:nvSpPr>
          <p:cNvPr id="28" name="Shape 26"/>
          <p:cNvSpPr/>
          <p:nvPr/>
        </p:nvSpPr>
        <p:spPr>
          <a:xfrm>
            <a:off x="10287000" y="4178808"/>
            <a:ext cx="0" cy="-64008"/>
          </a:xfrm>
          <a:prstGeom prst="line">
            <a:avLst/>
          </a:prstGeom>
          <a:noFill/>
          <a:ln w="12700">
            <a:solidFill>
              <a:srgbClr val="94A3B8"/>
            </a:solidFill>
            <a:prstDash val="solid"/>
          </a:ln>
        </p:spPr>
      </p:sp>
      <p:sp>
        <p:nvSpPr>
          <p:cNvPr id="29" name="Shape 27"/>
          <p:cNvSpPr/>
          <p:nvPr/>
        </p:nvSpPr>
        <p:spPr>
          <a:xfrm>
            <a:off x="8148218" y="4114800"/>
            <a:ext cx="2138782" cy="0"/>
          </a:xfrm>
          <a:prstGeom prst="line">
            <a:avLst/>
          </a:prstGeom>
          <a:noFill/>
          <a:ln w="12700">
            <a:solidFill>
              <a:srgbClr val="94A3B8"/>
            </a:solidFill>
            <a:prstDash val="solid"/>
          </a:ln>
        </p:spPr>
      </p:sp>
      <p:sp>
        <p:nvSpPr>
          <p:cNvPr id="30" name="Text 28"/>
          <p:cNvSpPr/>
          <p:nvPr/>
        </p:nvSpPr>
        <p:spPr>
          <a:xfrm>
            <a:off x="3556102" y="3840480"/>
            <a:ext cx="914400" cy="228600"/>
          </a:xfrm>
          <a:prstGeom prst="rect">
            <a:avLst/>
          </a:prstGeom>
          <a:noFill/>
          <a:ln/>
        </p:spPr>
        <p:txBody>
          <a:bodyPr wrap="square" lIns="0" tIns="0" rIns="0" bIns="0" rtlCol="0" anchor="ctr"/>
          <a:lstStyle/>
          <a:p>
            <a:pPr algn="ctr" indent="0" marL="0">
              <a:buNone/>
            </a:pPr>
            <a:r>
              <a:rPr lang="en-US" sz="1000" i="1" dirty="0">
                <a:solidFill>
                  <a:srgbClr val="B45309"/>
                </a:solidFill>
                <a:latin typeface="Calibri" pitchFamily="34" charset="0"/>
                <a:ea typeface="Calibri" pitchFamily="34" charset="-122"/>
                <a:cs typeface="Calibri" pitchFamily="34" charset="-120"/>
              </a:rPr>
              <a:t>yes</a:t>
            </a:r>
            <a:endParaRPr lang="en-US" sz="1000" dirty="0"/>
          </a:p>
        </p:txBody>
      </p:sp>
      <p:sp>
        <p:nvSpPr>
          <p:cNvPr id="31" name="Text 29"/>
          <p:cNvSpPr/>
          <p:nvPr/>
        </p:nvSpPr>
        <p:spPr>
          <a:xfrm>
            <a:off x="7691018" y="3840480"/>
            <a:ext cx="914400" cy="228600"/>
          </a:xfrm>
          <a:prstGeom prst="rect">
            <a:avLst/>
          </a:prstGeom>
          <a:noFill/>
          <a:ln/>
        </p:spPr>
        <p:txBody>
          <a:bodyPr wrap="square" lIns="0" tIns="0" rIns="0" bIns="0" rtlCol="0" anchor="ctr"/>
          <a:lstStyle/>
          <a:p>
            <a:pPr algn="ctr" indent="0" marL="0">
              <a:buNone/>
            </a:pPr>
            <a:r>
              <a:rPr lang="en-US" sz="1000" i="1" dirty="0">
                <a:solidFill>
                  <a:srgbClr val="059669"/>
                </a:solidFill>
                <a:latin typeface="Calibri" pitchFamily="34" charset="0"/>
                <a:ea typeface="Calibri" pitchFamily="34" charset="-122"/>
                <a:cs typeface="Calibri" pitchFamily="34" charset="-120"/>
              </a:rPr>
              <a:t>no</a:t>
            </a:r>
            <a:endParaRPr lang="en-US" sz="1000" dirty="0"/>
          </a:p>
        </p:txBody>
      </p:sp>
      <p:sp>
        <p:nvSpPr>
          <p:cNvPr id="32" name="Shape 30"/>
          <p:cNvSpPr/>
          <p:nvPr/>
        </p:nvSpPr>
        <p:spPr>
          <a:xfrm>
            <a:off x="3144622" y="4343400"/>
            <a:ext cx="1737360" cy="777240"/>
          </a:xfrm>
          <a:prstGeom prst="roundRect">
            <a:avLst>
              <a:gd name="adj" fmla="val 9412"/>
            </a:avLst>
          </a:prstGeom>
          <a:solidFill>
            <a:srgbClr val="B45309"/>
          </a:solidFill>
          <a:ln w="12700">
            <a:solidFill>
              <a:srgbClr val="B45309"/>
            </a:solidFill>
            <a:prstDash val="solid"/>
          </a:ln>
        </p:spPr>
      </p:sp>
      <p:sp>
        <p:nvSpPr>
          <p:cNvPr id="33" name="Text 31"/>
          <p:cNvSpPr/>
          <p:nvPr/>
        </p:nvSpPr>
        <p:spPr>
          <a:xfrm>
            <a:off x="3144622" y="4434840"/>
            <a:ext cx="173736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HITL gate</a:t>
            </a:r>
            <a:endParaRPr lang="en-US" sz="1600" dirty="0"/>
          </a:p>
        </p:txBody>
      </p:sp>
      <p:sp>
        <p:nvSpPr>
          <p:cNvPr id="34" name="Text 32"/>
          <p:cNvSpPr/>
          <p:nvPr/>
        </p:nvSpPr>
        <p:spPr>
          <a:xfrm>
            <a:off x="3144622" y="4800600"/>
            <a:ext cx="1737360" cy="274320"/>
          </a:xfrm>
          <a:prstGeom prst="rect">
            <a:avLst/>
          </a:prstGeom>
          <a:noFill/>
          <a:ln/>
        </p:spPr>
        <p:txBody>
          <a:bodyPr wrap="square" lIns="0" tIns="0" rIns="0" bIns="0" rtlCol="0" anchor="ctr"/>
          <a:lstStyle/>
          <a:p>
            <a:pPr algn="ctr" indent="0" marL="0">
              <a:buNone/>
            </a:pPr>
            <a:r>
              <a:rPr lang="en-US" sz="1000" dirty="0">
                <a:solidFill>
                  <a:srgbClr val="FEF3C7"/>
                </a:solidFill>
                <a:latin typeface="Calibri" pitchFamily="34" charset="0"/>
                <a:ea typeface="Calibri" pitchFamily="34" charset="-122"/>
                <a:cs typeface="Calibri" pitchFamily="34" charset="-120"/>
              </a:rPr>
              <a:t>Pause for reviewer</a:t>
            </a:r>
            <a:endParaRPr lang="en-US" sz="1000" dirty="0"/>
          </a:p>
        </p:txBody>
      </p:sp>
      <p:sp>
        <p:nvSpPr>
          <p:cNvPr id="35" name="Shape 33"/>
          <p:cNvSpPr/>
          <p:nvPr/>
        </p:nvSpPr>
        <p:spPr>
          <a:xfrm>
            <a:off x="7279538" y="4343400"/>
            <a:ext cx="1737360" cy="777240"/>
          </a:xfrm>
          <a:prstGeom prst="roundRect">
            <a:avLst>
              <a:gd name="adj" fmla="val 9412"/>
            </a:avLst>
          </a:prstGeom>
          <a:solidFill>
            <a:srgbClr val="059669"/>
          </a:solidFill>
          <a:ln w="12700">
            <a:solidFill>
              <a:srgbClr val="059669"/>
            </a:solidFill>
            <a:prstDash val="solid"/>
          </a:ln>
        </p:spPr>
      </p:sp>
      <p:sp>
        <p:nvSpPr>
          <p:cNvPr id="36" name="Text 34"/>
          <p:cNvSpPr/>
          <p:nvPr/>
        </p:nvSpPr>
        <p:spPr>
          <a:xfrm>
            <a:off x="7279538" y="4434840"/>
            <a:ext cx="173736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Finalize</a:t>
            </a:r>
            <a:endParaRPr lang="en-US" sz="1600" dirty="0"/>
          </a:p>
        </p:txBody>
      </p:sp>
      <p:sp>
        <p:nvSpPr>
          <p:cNvPr id="37" name="Text 35"/>
          <p:cNvSpPr/>
          <p:nvPr/>
        </p:nvSpPr>
        <p:spPr>
          <a:xfrm>
            <a:off x="7279538" y="4800600"/>
            <a:ext cx="173736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Generate report</a:t>
            </a:r>
            <a:endParaRPr lang="en-US" sz="1000" dirty="0"/>
          </a:p>
        </p:txBody>
      </p:sp>
      <p:sp>
        <p:nvSpPr>
          <p:cNvPr id="38" name="Text 36"/>
          <p:cNvSpPr/>
          <p:nvPr/>
        </p:nvSpPr>
        <p:spPr>
          <a:xfrm>
            <a:off x="731520" y="6126480"/>
            <a:ext cx="10515600" cy="45720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LangGraph with SQLite checkpointing. The HITL gate is an interrupt_before — the graph pauses, persists state, and resumes when the reviewer submits a decision.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02920"/>
            <a:ext cx="10972800" cy="64008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Per-clause retrieval</a:t>
            </a:r>
            <a:endParaRPr lang="en-US" sz="3600" dirty="0"/>
          </a:p>
        </p:txBody>
      </p:sp>
      <p:sp>
        <p:nvSpPr>
          <p:cNvPr id="3" name="Text 1"/>
          <p:cNvSpPr/>
          <p:nvPr/>
        </p:nvSpPr>
        <p:spPr>
          <a:xfrm>
            <a:off x="731520" y="1234440"/>
            <a:ext cx="10515600" cy="640080"/>
          </a:xfrm>
          <a:prstGeom prst="rect">
            <a:avLst/>
          </a:prstGeom>
          <a:noFill/>
          <a:ln/>
        </p:spPr>
        <p:txBody>
          <a:bodyPr wrap="square" lIns="0" tIns="0" rIns="0" bIns="0" rtlCol="0" anchor="ctr"/>
          <a:lstStyle/>
          <a:p>
            <a:pPr indent="0" marL="0">
              <a:buNone/>
            </a:pPr>
            <a:r>
              <a:rPr lang="en-US" sz="1400" dirty="0">
                <a:solidFill>
                  <a:srgbClr val="475569"/>
                </a:solidFill>
                <a:latin typeface="Calibri" pitchFamily="34" charset="0"/>
                <a:ea typeface="Calibri" pitchFamily="34" charset="-122"/>
                <a:cs typeface="Calibri" pitchFamily="34" charset="-120"/>
              </a:rPr>
              <a:t>One vector query per extracted clause. The top-2 playbook positions for that clause's type become context for the comparison agent — no whole-document prompts, no kitchen-sink retrieval.</a:t>
            </a:r>
            <a:endParaRPr lang="en-US" sz="1400" dirty="0"/>
          </a:p>
        </p:txBody>
      </p:sp>
      <p:sp>
        <p:nvSpPr>
          <p:cNvPr id="4" name="Text 2"/>
          <p:cNvSpPr/>
          <p:nvPr/>
        </p:nvSpPr>
        <p:spPr>
          <a:xfrm>
            <a:off x="731520" y="2057400"/>
            <a:ext cx="5486400" cy="274320"/>
          </a:xfrm>
          <a:prstGeom prst="rect">
            <a:avLst/>
          </a:prstGeom>
          <a:noFill/>
          <a:ln/>
        </p:spPr>
        <p:txBody>
          <a:bodyPr wrap="square" lIns="0" tIns="0" rIns="0" bIns="0"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INDEX  ·  once at startup</a:t>
            </a:r>
            <a:endParaRPr lang="en-US" sz="1000" dirty="0"/>
          </a:p>
        </p:txBody>
      </p:sp>
      <p:sp>
        <p:nvSpPr>
          <p:cNvPr id="5" name="Shape 3"/>
          <p:cNvSpPr/>
          <p:nvPr/>
        </p:nvSpPr>
        <p:spPr>
          <a:xfrm>
            <a:off x="1188720" y="2377440"/>
            <a:ext cx="2834640" cy="640080"/>
          </a:xfrm>
          <a:prstGeom prst="roundRect">
            <a:avLst>
              <a:gd name="adj" fmla="val 11429"/>
            </a:avLst>
          </a:prstGeom>
          <a:solidFill>
            <a:srgbClr val="CADCFC">
              <a:alpha val="50000"/>
            </a:srgbClr>
          </a:solidFill>
          <a:ln w="12700">
            <a:solidFill>
              <a:srgbClr val="CADCFC"/>
            </a:solidFill>
            <a:prstDash val="solid"/>
          </a:ln>
        </p:spPr>
      </p:sp>
      <p:sp>
        <p:nvSpPr>
          <p:cNvPr id="6" name="Text 4"/>
          <p:cNvSpPr/>
          <p:nvPr/>
        </p:nvSpPr>
        <p:spPr>
          <a:xfrm>
            <a:off x="1188720" y="2450592"/>
            <a:ext cx="2834640" cy="292608"/>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playbook.md</a:t>
            </a:r>
            <a:endParaRPr lang="en-US" sz="1400" dirty="0"/>
          </a:p>
        </p:txBody>
      </p:sp>
      <p:sp>
        <p:nvSpPr>
          <p:cNvPr id="7" name="Text 5"/>
          <p:cNvSpPr/>
          <p:nvPr/>
        </p:nvSpPr>
        <p:spPr>
          <a:xfrm>
            <a:off x="1188720" y="2743200"/>
            <a:ext cx="2834640" cy="256032"/>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10 H2 sections</a:t>
            </a:r>
            <a:endParaRPr lang="en-US" sz="1000" dirty="0"/>
          </a:p>
        </p:txBody>
      </p:sp>
      <p:sp>
        <p:nvSpPr>
          <p:cNvPr id="8" name="Shape 6"/>
          <p:cNvSpPr/>
          <p:nvPr/>
        </p:nvSpPr>
        <p:spPr>
          <a:xfrm>
            <a:off x="4096512" y="2697480"/>
            <a:ext cx="493776" cy="0"/>
          </a:xfrm>
          <a:prstGeom prst="line">
            <a:avLst/>
          </a:prstGeom>
          <a:noFill/>
          <a:ln w="15240">
            <a:solidFill>
              <a:srgbClr val="94A3B8"/>
            </a:solidFill>
            <a:prstDash val="solid"/>
            <a:tailEnd type="triangle"/>
          </a:ln>
        </p:spPr>
      </p:sp>
      <p:sp>
        <p:nvSpPr>
          <p:cNvPr id="9" name="Shape 7"/>
          <p:cNvSpPr/>
          <p:nvPr/>
        </p:nvSpPr>
        <p:spPr>
          <a:xfrm>
            <a:off x="4663440" y="2377440"/>
            <a:ext cx="2834640" cy="640080"/>
          </a:xfrm>
          <a:prstGeom prst="roundRect">
            <a:avLst>
              <a:gd name="adj" fmla="val 11429"/>
            </a:avLst>
          </a:prstGeom>
          <a:solidFill>
            <a:srgbClr val="CADCFC">
              <a:alpha val="50000"/>
            </a:srgbClr>
          </a:solidFill>
          <a:ln w="12700">
            <a:solidFill>
              <a:srgbClr val="CADCFC"/>
            </a:solidFill>
            <a:prstDash val="solid"/>
          </a:ln>
        </p:spPr>
      </p:sp>
      <p:sp>
        <p:nvSpPr>
          <p:cNvPr id="10" name="Text 8"/>
          <p:cNvSpPr/>
          <p:nvPr/>
        </p:nvSpPr>
        <p:spPr>
          <a:xfrm>
            <a:off x="4663440" y="2450592"/>
            <a:ext cx="2834640" cy="292608"/>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Sentence-transformer</a:t>
            </a:r>
            <a:endParaRPr lang="en-US" sz="1400" dirty="0"/>
          </a:p>
        </p:txBody>
      </p:sp>
      <p:sp>
        <p:nvSpPr>
          <p:cNvPr id="11" name="Text 9"/>
          <p:cNvSpPr/>
          <p:nvPr/>
        </p:nvSpPr>
        <p:spPr>
          <a:xfrm>
            <a:off x="4663440" y="2743200"/>
            <a:ext cx="2834640" cy="256032"/>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MiniLM-L6, local CPU</a:t>
            </a:r>
            <a:endParaRPr lang="en-US" sz="1000" dirty="0"/>
          </a:p>
        </p:txBody>
      </p:sp>
      <p:sp>
        <p:nvSpPr>
          <p:cNvPr id="12" name="Shape 10"/>
          <p:cNvSpPr/>
          <p:nvPr/>
        </p:nvSpPr>
        <p:spPr>
          <a:xfrm>
            <a:off x="7571232" y="2697480"/>
            <a:ext cx="493776" cy="0"/>
          </a:xfrm>
          <a:prstGeom prst="line">
            <a:avLst/>
          </a:prstGeom>
          <a:noFill/>
          <a:ln w="15240">
            <a:solidFill>
              <a:srgbClr val="94A3B8"/>
            </a:solidFill>
            <a:prstDash val="solid"/>
            <a:tailEnd type="triangle"/>
          </a:ln>
        </p:spPr>
      </p:sp>
      <p:sp>
        <p:nvSpPr>
          <p:cNvPr id="13" name="Shape 11"/>
          <p:cNvSpPr/>
          <p:nvPr/>
        </p:nvSpPr>
        <p:spPr>
          <a:xfrm>
            <a:off x="8138160" y="2377440"/>
            <a:ext cx="2834640" cy="640080"/>
          </a:xfrm>
          <a:prstGeom prst="roundRect">
            <a:avLst>
              <a:gd name="adj" fmla="val 11429"/>
            </a:avLst>
          </a:prstGeom>
          <a:solidFill>
            <a:srgbClr val="CADCFC">
              <a:alpha val="50000"/>
            </a:srgbClr>
          </a:solidFill>
          <a:ln w="12700">
            <a:solidFill>
              <a:srgbClr val="CADCFC"/>
            </a:solidFill>
            <a:prstDash val="solid"/>
          </a:ln>
        </p:spPr>
      </p:sp>
      <p:sp>
        <p:nvSpPr>
          <p:cNvPr id="14" name="Text 12"/>
          <p:cNvSpPr/>
          <p:nvPr/>
        </p:nvSpPr>
        <p:spPr>
          <a:xfrm>
            <a:off x="8138160" y="2450592"/>
            <a:ext cx="2834640" cy="292608"/>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ChromaDB</a:t>
            </a:r>
            <a:endParaRPr lang="en-US" sz="1400" dirty="0"/>
          </a:p>
        </p:txBody>
      </p:sp>
      <p:sp>
        <p:nvSpPr>
          <p:cNvPr id="15" name="Text 13"/>
          <p:cNvSpPr/>
          <p:nvPr/>
        </p:nvSpPr>
        <p:spPr>
          <a:xfrm>
            <a:off x="8138160" y="2743200"/>
            <a:ext cx="2834640" cy="256032"/>
          </a:xfrm>
          <a:prstGeom prst="rect">
            <a:avLst/>
          </a:prstGeom>
          <a:noFill/>
          <a:ln/>
        </p:spPr>
        <p:txBody>
          <a:bodyPr wrap="square" lIns="0" tIns="0" rIns="0" bIns="0" rtlCol="0" anchor="ctr"/>
          <a:lstStyle/>
          <a:p>
            <a:pPr algn="ctr" indent="0" marL="0">
              <a:buNone/>
            </a:pPr>
            <a:r>
              <a:rPr lang="en-US" sz="1000" i="1" dirty="0">
                <a:solidFill>
                  <a:srgbClr val="475569"/>
                </a:solidFill>
                <a:latin typeface="Calibri" pitchFamily="34" charset="0"/>
                <a:ea typeface="Calibri" pitchFamily="34" charset="-122"/>
                <a:cs typeface="Calibri" pitchFamily="34" charset="-120"/>
              </a:rPr>
              <a:t>persistent on disk</a:t>
            </a:r>
            <a:endParaRPr lang="en-US" sz="1000" dirty="0"/>
          </a:p>
        </p:txBody>
      </p:sp>
      <p:sp>
        <p:nvSpPr>
          <p:cNvPr id="16" name="Text 14"/>
          <p:cNvSpPr/>
          <p:nvPr/>
        </p:nvSpPr>
        <p:spPr>
          <a:xfrm>
            <a:off x="731520" y="3291840"/>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RETRIEVE  ·  per clause</a:t>
            </a:r>
            <a:endParaRPr lang="en-US" sz="1000" dirty="0"/>
          </a:p>
        </p:txBody>
      </p:sp>
      <p:sp>
        <p:nvSpPr>
          <p:cNvPr id="17" name="Shape 15"/>
          <p:cNvSpPr/>
          <p:nvPr/>
        </p:nvSpPr>
        <p:spPr>
          <a:xfrm>
            <a:off x="548640" y="3611880"/>
            <a:ext cx="2423160" cy="640080"/>
          </a:xfrm>
          <a:prstGeom prst="roundRect">
            <a:avLst>
              <a:gd name="adj" fmla="val 11429"/>
            </a:avLst>
          </a:prstGeom>
          <a:solidFill>
            <a:srgbClr val="1E2761"/>
          </a:solidFill>
          <a:ln w="12700">
            <a:solidFill>
              <a:srgbClr val="1E2761"/>
            </a:solidFill>
            <a:prstDash val="solid"/>
          </a:ln>
        </p:spPr>
      </p:sp>
      <p:sp>
        <p:nvSpPr>
          <p:cNvPr id="18" name="Text 16"/>
          <p:cNvSpPr/>
          <p:nvPr/>
        </p:nvSpPr>
        <p:spPr>
          <a:xfrm>
            <a:off x="548640" y="3685032"/>
            <a:ext cx="242316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Clause text + type</a:t>
            </a:r>
            <a:endParaRPr lang="en-US" sz="1300" dirty="0"/>
          </a:p>
        </p:txBody>
      </p:sp>
      <p:sp>
        <p:nvSpPr>
          <p:cNvPr id="19" name="Text 17"/>
          <p:cNvSpPr/>
          <p:nvPr/>
        </p:nvSpPr>
        <p:spPr>
          <a:xfrm>
            <a:off x="548640" y="3977640"/>
            <a:ext cx="2423160" cy="256032"/>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from extractor</a:t>
            </a:r>
            <a:endParaRPr lang="en-US" sz="1000" dirty="0"/>
          </a:p>
        </p:txBody>
      </p:sp>
      <p:sp>
        <p:nvSpPr>
          <p:cNvPr id="20" name="Shape 18"/>
          <p:cNvSpPr/>
          <p:nvPr/>
        </p:nvSpPr>
        <p:spPr>
          <a:xfrm>
            <a:off x="3026664" y="3931920"/>
            <a:ext cx="347472" cy="0"/>
          </a:xfrm>
          <a:prstGeom prst="line">
            <a:avLst/>
          </a:prstGeom>
          <a:noFill/>
          <a:ln w="15240">
            <a:solidFill>
              <a:srgbClr val="1E2761"/>
            </a:solidFill>
            <a:prstDash val="solid"/>
            <a:tailEnd type="triangle"/>
          </a:ln>
        </p:spPr>
      </p:sp>
      <p:sp>
        <p:nvSpPr>
          <p:cNvPr id="21" name="Shape 19"/>
          <p:cNvSpPr/>
          <p:nvPr/>
        </p:nvSpPr>
        <p:spPr>
          <a:xfrm>
            <a:off x="3429000" y="3611880"/>
            <a:ext cx="2423160" cy="640080"/>
          </a:xfrm>
          <a:prstGeom prst="roundRect">
            <a:avLst>
              <a:gd name="adj" fmla="val 11429"/>
            </a:avLst>
          </a:prstGeom>
          <a:solidFill>
            <a:srgbClr val="1E2761"/>
          </a:solidFill>
          <a:ln w="12700">
            <a:solidFill>
              <a:srgbClr val="1E2761"/>
            </a:solidFill>
            <a:prstDash val="solid"/>
          </a:ln>
        </p:spPr>
      </p:sp>
      <p:sp>
        <p:nvSpPr>
          <p:cNvPr id="22" name="Text 20"/>
          <p:cNvSpPr/>
          <p:nvPr/>
        </p:nvSpPr>
        <p:spPr>
          <a:xfrm>
            <a:off x="3429000" y="3685032"/>
            <a:ext cx="242316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Query embedding</a:t>
            </a:r>
            <a:endParaRPr lang="en-US" sz="1300" dirty="0"/>
          </a:p>
        </p:txBody>
      </p:sp>
      <p:sp>
        <p:nvSpPr>
          <p:cNvPr id="23" name="Text 21"/>
          <p:cNvSpPr/>
          <p:nvPr/>
        </p:nvSpPr>
        <p:spPr>
          <a:xfrm>
            <a:off x="3429000" y="3977640"/>
            <a:ext cx="2423160" cy="256032"/>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same model</a:t>
            </a:r>
            <a:endParaRPr lang="en-US" sz="1000" dirty="0"/>
          </a:p>
        </p:txBody>
      </p:sp>
      <p:sp>
        <p:nvSpPr>
          <p:cNvPr id="24" name="Shape 22"/>
          <p:cNvSpPr/>
          <p:nvPr/>
        </p:nvSpPr>
        <p:spPr>
          <a:xfrm>
            <a:off x="5907024" y="3931920"/>
            <a:ext cx="347472" cy="0"/>
          </a:xfrm>
          <a:prstGeom prst="line">
            <a:avLst/>
          </a:prstGeom>
          <a:noFill/>
          <a:ln w="15240">
            <a:solidFill>
              <a:srgbClr val="1E2761"/>
            </a:solidFill>
            <a:prstDash val="solid"/>
            <a:tailEnd type="triangle"/>
          </a:ln>
        </p:spPr>
      </p:sp>
      <p:sp>
        <p:nvSpPr>
          <p:cNvPr id="25" name="Shape 23"/>
          <p:cNvSpPr/>
          <p:nvPr/>
        </p:nvSpPr>
        <p:spPr>
          <a:xfrm>
            <a:off x="6309360" y="3611880"/>
            <a:ext cx="2423160" cy="640080"/>
          </a:xfrm>
          <a:prstGeom prst="roundRect">
            <a:avLst>
              <a:gd name="adj" fmla="val 11429"/>
            </a:avLst>
          </a:prstGeom>
          <a:solidFill>
            <a:srgbClr val="1E2761"/>
          </a:solidFill>
          <a:ln w="12700">
            <a:solidFill>
              <a:srgbClr val="1E2761"/>
            </a:solidFill>
            <a:prstDash val="solid"/>
          </a:ln>
        </p:spPr>
      </p:sp>
      <p:sp>
        <p:nvSpPr>
          <p:cNvPr id="26" name="Text 24"/>
          <p:cNvSpPr/>
          <p:nvPr/>
        </p:nvSpPr>
        <p:spPr>
          <a:xfrm>
            <a:off x="6309360" y="3685032"/>
            <a:ext cx="242316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Top-2 similarity</a:t>
            </a:r>
            <a:endParaRPr lang="en-US" sz="1300" dirty="0"/>
          </a:p>
        </p:txBody>
      </p:sp>
      <p:sp>
        <p:nvSpPr>
          <p:cNvPr id="27" name="Text 25"/>
          <p:cNvSpPr/>
          <p:nvPr/>
        </p:nvSpPr>
        <p:spPr>
          <a:xfrm>
            <a:off x="6309360" y="3977640"/>
            <a:ext cx="2423160" cy="256032"/>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cosine distance</a:t>
            </a:r>
            <a:endParaRPr lang="en-US" sz="1000" dirty="0"/>
          </a:p>
        </p:txBody>
      </p:sp>
      <p:sp>
        <p:nvSpPr>
          <p:cNvPr id="28" name="Shape 26"/>
          <p:cNvSpPr/>
          <p:nvPr/>
        </p:nvSpPr>
        <p:spPr>
          <a:xfrm>
            <a:off x="8787384" y="3931920"/>
            <a:ext cx="347472" cy="0"/>
          </a:xfrm>
          <a:prstGeom prst="line">
            <a:avLst/>
          </a:prstGeom>
          <a:noFill/>
          <a:ln w="15240">
            <a:solidFill>
              <a:srgbClr val="1E2761"/>
            </a:solidFill>
            <a:prstDash val="solid"/>
            <a:tailEnd type="triangle"/>
          </a:ln>
        </p:spPr>
      </p:sp>
      <p:sp>
        <p:nvSpPr>
          <p:cNvPr id="29" name="Shape 27"/>
          <p:cNvSpPr/>
          <p:nvPr/>
        </p:nvSpPr>
        <p:spPr>
          <a:xfrm>
            <a:off x="9189720" y="3611880"/>
            <a:ext cx="2423160" cy="640080"/>
          </a:xfrm>
          <a:prstGeom prst="roundRect">
            <a:avLst>
              <a:gd name="adj" fmla="val 11429"/>
            </a:avLst>
          </a:prstGeom>
          <a:solidFill>
            <a:srgbClr val="1E2761"/>
          </a:solidFill>
          <a:ln w="12700">
            <a:solidFill>
              <a:srgbClr val="1E2761"/>
            </a:solidFill>
            <a:prstDash val="solid"/>
          </a:ln>
        </p:spPr>
      </p:sp>
      <p:sp>
        <p:nvSpPr>
          <p:cNvPr id="30" name="Text 28"/>
          <p:cNvSpPr/>
          <p:nvPr/>
        </p:nvSpPr>
        <p:spPr>
          <a:xfrm>
            <a:off x="9189720" y="3685032"/>
            <a:ext cx="242316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Into compare prompt</a:t>
            </a:r>
            <a:endParaRPr lang="en-US" sz="1300" dirty="0"/>
          </a:p>
        </p:txBody>
      </p:sp>
      <p:sp>
        <p:nvSpPr>
          <p:cNvPr id="31" name="Text 29"/>
          <p:cNvSpPr/>
          <p:nvPr/>
        </p:nvSpPr>
        <p:spPr>
          <a:xfrm>
            <a:off x="9189720" y="3977640"/>
            <a:ext cx="2423160" cy="256032"/>
          </a:xfrm>
          <a:prstGeom prst="rect">
            <a:avLst/>
          </a:prstGeom>
          <a:noFill/>
          <a:ln/>
        </p:spPr>
        <p:txBody>
          <a:bodyPr wrap="square" lIns="0" tIns="0" rIns="0" bIns="0" rtlCol="0" anchor="ctr"/>
          <a:lstStyle/>
          <a:p>
            <a:pPr algn="ctr" indent="0" marL="0">
              <a:buNone/>
            </a:pPr>
            <a:r>
              <a:rPr lang="en-US" sz="1000" i="1" dirty="0">
                <a:solidFill>
                  <a:srgbClr val="CADCFC"/>
                </a:solidFill>
                <a:latin typeface="Calibri" pitchFamily="34" charset="0"/>
                <a:ea typeface="Calibri" pitchFamily="34" charset="-122"/>
                <a:cs typeface="Calibri" pitchFamily="34" charset="-120"/>
              </a:rPr>
              <a:t>+ audit log entry</a:t>
            </a:r>
            <a:endParaRPr lang="en-US" sz="1000" dirty="0"/>
          </a:p>
        </p:txBody>
      </p:sp>
      <p:sp>
        <p:nvSpPr>
          <p:cNvPr id="32" name="Text 30"/>
          <p:cNvSpPr/>
          <p:nvPr/>
        </p:nvSpPr>
        <p:spPr>
          <a:xfrm>
            <a:off x="731520" y="4617720"/>
            <a:ext cx="7315200" cy="274320"/>
          </a:xfrm>
          <a:prstGeom prst="rect">
            <a:avLst/>
          </a:prstGeom>
          <a:noFill/>
          <a:ln/>
        </p:spPr>
        <p:txBody>
          <a:bodyPr wrap="square" lIns="0" tIns="0" rIns="0" bIns="0"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EXAMPLE  ·  §7.2 (Vertex liability cap)</a:t>
            </a:r>
            <a:endParaRPr lang="en-US" sz="1000" dirty="0"/>
          </a:p>
        </p:txBody>
      </p:sp>
      <p:sp>
        <p:nvSpPr>
          <p:cNvPr id="33" name="Shape 31"/>
          <p:cNvSpPr/>
          <p:nvPr/>
        </p:nvSpPr>
        <p:spPr>
          <a:xfrm>
            <a:off x="731520" y="4937760"/>
            <a:ext cx="4846320" cy="1554480"/>
          </a:xfrm>
          <a:prstGeom prst="rect">
            <a:avLst/>
          </a:prstGeom>
          <a:solidFill>
            <a:srgbClr val="FFFFFF"/>
          </a:solidFill>
          <a:ln w="12700">
            <a:solidFill>
              <a:srgbClr val="E2E8F0"/>
            </a:solidFill>
            <a:prstDash val="solid"/>
          </a:ln>
        </p:spPr>
      </p:sp>
      <p:sp>
        <p:nvSpPr>
          <p:cNvPr id="34" name="Shape 32"/>
          <p:cNvSpPr/>
          <p:nvPr/>
        </p:nvSpPr>
        <p:spPr>
          <a:xfrm>
            <a:off x="731520" y="4937760"/>
            <a:ext cx="73152" cy="1554480"/>
          </a:xfrm>
          <a:prstGeom prst="rect">
            <a:avLst/>
          </a:prstGeom>
          <a:solidFill>
            <a:srgbClr val="1E2761"/>
          </a:solidFill>
          <a:ln w="12700">
            <a:solidFill>
              <a:srgbClr val="1E2761"/>
            </a:solidFill>
            <a:prstDash val="solid"/>
          </a:ln>
        </p:spPr>
      </p:sp>
      <p:sp>
        <p:nvSpPr>
          <p:cNvPr id="35" name="Text 33"/>
          <p:cNvSpPr/>
          <p:nvPr/>
        </p:nvSpPr>
        <p:spPr>
          <a:xfrm>
            <a:off x="914400" y="5074920"/>
            <a:ext cx="4572000" cy="274320"/>
          </a:xfrm>
          <a:prstGeom prst="rect">
            <a:avLst/>
          </a:prstGeom>
          <a:noFill/>
          <a:ln/>
        </p:spPr>
        <p:txBody>
          <a:bodyPr wrap="square" lIns="0" tIns="0" rIns="0" bIns="0"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INPUT CLAUSE</a:t>
            </a:r>
            <a:endParaRPr lang="en-US" sz="1000" dirty="0"/>
          </a:p>
        </p:txBody>
      </p:sp>
      <p:sp>
        <p:nvSpPr>
          <p:cNvPr id="36" name="Text 34"/>
          <p:cNvSpPr/>
          <p:nvPr/>
        </p:nvSpPr>
        <p:spPr>
          <a:xfrm>
            <a:off x="914400" y="5349240"/>
            <a:ext cx="4572000" cy="1051560"/>
          </a:xfrm>
          <a:prstGeom prst="rect">
            <a:avLst/>
          </a:prstGeom>
          <a:noFill/>
          <a:ln/>
        </p:spPr>
        <p:txBody>
          <a:bodyPr wrap="square" lIns="0" tIns="0" rIns="0" bIns="0" rtlCol="0" anchor="t"/>
          <a:lstStyle/>
          <a:p>
            <a:pPr indent="0" marL="0">
              <a:buNone/>
            </a:pPr>
            <a:r>
              <a:rPr lang="en-US" sz="1000" i="1" dirty="0">
                <a:solidFill>
                  <a:srgbClr val="1E2761"/>
                </a:solidFill>
                <a:latin typeface="Calibri" pitchFamily="34" charset="0"/>
                <a:ea typeface="Calibri" pitchFamily="34" charset="-122"/>
                <a:cs typeface="Calibri" pitchFamily="34" charset="-120"/>
              </a:rPr>
              <a:t>“Vertex's total aggregate liability arising out of or relating to this Agreement, regardless of the form of action or theory of liability, shall not exceed the lesser of (A) one thousand dollars ($1,000) or (B) the fees paid by Customer to Vertex in the one (1) month preceding the event giving rise to the claim.”</a:t>
            </a:r>
            <a:endParaRPr lang="en-US" sz="1000" dirty="0"/>
          </a:p>
        </p:txBody>
      </p:sp>
      <p:sp>
        <p:nvSpPr>
          <p:cNvPr id="37" name="Text 35"/>
          <p:cNvSpPr/>
          <p:nvPr/>
        </p:nvSpPr>
        <p:spPr>
          <a:xfrm>
            <a:off x="5669280" y="5422392"/>
            <a:ext cx="822960" cy="256032"/>
          </a:xfrm>
          <a:prstGeom prst="rect">
            <a:avLst/>
          </a:prstGeom>
          <a:noFill/>
          <a:ln/>
        </p:spPr>
        <p:txBody>
          <a:bodyPr wrap="square" lIns="0" tIns="0" rIns="0" bIns="0" rtlCol="0" anchor="ctr"/>
          <a:lstStyle/>
          <a:p>
            <a:pPr algn="ctr" indent="0" marL="0">
              <a:buNone/>
            </a:pPr>
            <a:r>
              <a:rPr lang="en-US" sz="1000" i="1" dirty="0">
                <a:solidFill>
                  <a:srgbClr val="1E2761"/>
                </a:solidFill>
                <a:latin typeface="Calibri" pitchFamily="34" charset="0"/>
                <a:ea typeface="Calibri" pitchFamily="34" charset="-122"/>
                <a:cs typeface="Calibri" pitchFamily="34" charset="-120"/>
              </a:rPr>
              <a:t>retrieves</a:t>
            </a:r>
            <a:endParaRPr lang="en-US" sz="1000" dirty="0"/>
          </a:p>
        </p:txBody>
      </p:sp>
      <p:sp>
        <p:nvSpPr>
          <p:cNvPr id="38" name="Shape 36"/>
          <p:cNvSpPr/>
          <p:nvPr/>
        </p:nvSpPr>
        <p:spPr>
          <a:xfrm>
            <a:off x="5669280" y="5715000"/>
            <a:ext cx="822960" cy="0"/>
          </a:xfrm>
          <a:prstGeom prst="line">
            <a:avLst/>
          </a:prstGeom>
          <a:noFill/>
          <a:ln w="19050">
            <a:solidFill>
              <a:srgbClr val="1E2761"/>
            </a:solidFill>
            <a:prstDash val="solid"/>
            <a:tailEnd type="triangle"/>
          </a:ln>
        </p:spPr>
      </p:sp>
      <p:sp>
        <p:nvSpPr>
          <p:cNvPr id="39" name="Shape 37"/>
          <p:cNvSpPr/>
          <p:nvPr/>
        </p:nvSpPr>
        <p:spPr>
          <a:xfrm>
            <a:off x="6583680" y="4937760"/>
            <a:ext cx="4846320" cy="1554480"/>
          </a:xfrm>
          <a:prstGeom prst="rect">
            <a:avLst/>
          </a:prstGeom>
          <a:solidFill>
            <a:srgbClr val="CADCFC">
              <a:alpha val="30000"/>
            </a:srgbClr>
          </a:solidFill>
          <a:ln w="12700">
            <a:solidFill>
              <a:srgbClr val="CADCFC"/>
            </a:solidFill>
            <a:prstDash val="solid"/>
          </a:ln>
        </p:spPr>
      </p:sp>
      <p:sp>
        <p:nvSpPr>
          <p:cNvPr id="40" name="Shape 38"/>
          <p:cNvSpPr/>
          <p:nvPr/>
        </p:nvSpPr>
        <p:spPr>
          <a:xfrm>
            <a:off x="6583680" y="4937760"/>
            <a:ext cx="73152" cy="1554480"/>
          </a:xfrm>
          <a:prstGeom prst="rect">
            <a:avLst/>
          </a:prstGeom>
          <a:solidFill>
            <a:srgbClr val="B45309"/>
          </a:solidFill>
          <a:ln w="12700">
            <a:solidFill>
              <a:srgbClr val="B45309"/>
            </a:solidFill>
            <a:prstDash val="solid"/>
          </a:ln>
        </p:spPr>
      </p:sp>
      <p:sp>
        <p:nvSpPr>
          <p:cNvPr id="41" name="Text 39"/>
          <p:cNvSpPr/>
          <p:nvPr/>
        </p:nvSpPr>
        <p:spPr>
          <a:xfrm>
            <a:off x="6766560" y="5074920"/>
            <a:ext cx="4572000" cy="274320"/>
          </a:xfrm>
          <a:prstGeom prst="rect">
            <a:avLst/>
          </a:prstGeom>
          <a:noFill/>
          <a:ln/>
        </p:spPr>
        <p:txBody>
          <a:bodyPr wrap="square" lIns="0" tIns="0" rIns="0" bIns="0" rtlCol="0" anchor="ctr"/>
          <a:lstStyle/>
          <a:p>
            <a:pPr indent="0" marL="0">
              <a:buNone/>
            </a:pPr>
            <a:r>
              <a:rPr lang="en-US" sz="1000" b="1" dirty="0">
                <a:solidFill>
                  <a:srgbClr val="B45309"/>
                </a:solidFill>
                <a:latin typeface="Calibri" pitchFamily="34" charset="0"/>
                <a:ea typeface="Calibri" pitchFamily="34" charset="-122"/>
                <a:cs typeface="Calibri" pitchFamily="34" charset="-120"/>
              </a:rPr>
              <a:t>TOP-1 RETRIEVED  ·  LIMITATION OF LIABILITY</a:t>
            </a:r>
            <a:endParaRPr lang="en-US" sz="1000" dirty="0"/>
          </a:p>
        </p:txBody>
      </p:sp>
      <p:sp>
        <p:nvSpPr>
          <p:cNvPr id="42" name="Text 40"/>
          <p:cNvSpPr/>
          <p:nvPr/>
        </p:nvSpPr>
        <p:spPr>
          <a:xfrm>
            <a:off x="6766560" y="5349240"/>
            <a:ext cx="4572000" cy="1051560"/>
          </a:xfrm>
          <a:prstGeom prst="rect">
            <a:avLst/>
          </a:prstGeom>
          <a:noFill/>
          <a:ln/>
        </p:spPr>
        <p:txBody>
          <a:bodyPr wrap="square" lIns="0" tIns="0" rIns="0" bIns="0" rtlCol="0" anchor="t"/>
          <a:lstStyle/>
          <a:p>
            <a:pPr indent="0" marL="0">
              <a:buNone/>
            </a:pPr>
            <a:r>
              <a:rPr lang="en-US" sz="1000" b="1" i="1" dirty="0">
                <a:solidFill>
                  <a:srgbClr val="1E2761"/>
                </a:solidFill>
                <a:latin typeface="Calibri" pitchFamily="34" charset="0"/>
                <a:ea typeface="Calibri" pitchFamily="34" charset="-122"/>
                <a:cs typeface="Calibri" pitchFamily="34" charset="-120"/>
              </a:rPr>
              <a:t>Approved position: </a:t>
            </a:r>
            <a:pPr indent="0" marL="0">
              <a:buNone/>
            </a:pPr>
            <a:r>
              <a:rPr lang="en-US" sz="1000" i="1" dirty="0">
                <a:solidFill>
                  <a:srgbClr val="1E2761"/>
                </a:solidFill>
                <a:latin typeface="Calibri" pitchFamily="34" charset="0"/>
                <a:ea typeface="Calibri" pitchFamily="34" charset="-122"/>
                <a:cs typeface="Calibri" pitchFamily="34" charset="-120"/>
              </a:rPr>
              <a:t>Aggregate liability cap of fees paid in the 12 months preceding the claim. Mutual cap. Standard exclusions for gross negligence, willful misconduct, IP indemnity, breach of confidentiality. </a:t>
            </a:r>
            <a:pPr indent="0" marL="0">
              <a:buNone/>
            </a:pPr>
            <a:r>
              <a:rPr lang="en-US" sz="1000" b="1" i="1" dirty="0">
                <a:solidFill>
                  <a:srgbClr val="DC2626"/>
                </a:solidFill>
                <a:latin typeface="Calibri" pitchFamily="34" charset="0"/>
                <a:ea typeface="Calibri" pitchFamily="34" charset="-122"/>
                <a:cs typeface="Calibri" pitchFamily="34" charset="-120"/>
              </a:rPr>
              <a:t>Walkaway: </a:t>
            </a:r>
            <a:pPr indent="0" marL="0">
              <a:buNone/>
            </a:pPr>
            <a:r>
              <a:rPr lang="en-US" sz="1000" i="1" dirty="0">
                <a:solidFill>
                  <a:srgbClr val="1E2761"/>
                </a:solidFill>
                <a:latin typeface="Calibri" pitchFamily="34" charset="0"/>
                <a:ea typeface="Calibri" pitchFamily="34" charset="-122"/>
                <a:cs typeface="Calibri" pitchFamily="34" charset="-120"/>
              </a:rPr>
              <a:t>one-sided cap protecting only the vendor; cap below 6 months of fees.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10972800" cy="64008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Human review gate</a:t>
            </a:r>
            <a:endParaRPr lang="en-US" sz="3600" dirty="0"/>
          </a:p>
        </p:txBody>
      </p:sp>
      <p:sp>
        <p:nvSpPr>
          <p:cNvPr id="3" name="Text 1"/>
          <p:cNvSpPr/>
          <p:nvPr/>
        </p:nvSpPr>
        <p:spPr>
          <a:xfrm>
            <a:off x="731520" y="1325880"/>
            <a:ext cx="10515600" cy="64008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Aggressive sample contract — 21 clauses extracted across 10 types. Pipeline pauses for reviewer when overall risk crosses threshold or verifier flags hallucination.</a:t>
            </a:r>
            <a:endParaRPr lang="en-US" sz="1500" dirty="0"/>
          </a:p>
        </p:txBody>
      </p:sp>
      <p:sp>
        <p:nvSpPr>
          <p:cNvPr id="4" name="Text 2"/>
          <p:cNvSpPr/>
          <p:nvPr/>
        </p:nvSpPr>
        <p:spPr>
          <a:xfrm>
            <a:off x="731520" y="2377440"/>
            <a:ext cx="4754880" cy="274320"/>
          </a:xfrm>
          <a:prstGeom prst="rect">
            <a:avLst/>
          </a:prstGeom>
          <a:noFill/>
          <a:ln/>
        </p:spPr>
        <p:txBody>
          <a:bodyPr wrap="square" lIns="0" tIns="0" rIns="0" bIns="0" rtlCol="0" anchor="ctr"/>
          <a:lstStyle/>
          <a:p>
            <a:pPr indent="0" marL="0">
              <a:buNone/>
            </a:pPr>
            <a:r>
              <a:rPr lang="en-US" sz="1100" b="1" spc="400" kern="0" dirty="0">
                <a:solidFill>
                  <a:srgbClr val="94A3B8"/>
                </a:solidFill>
                <a:latin typeface="Calibri" pitchFamily="34" charset="0"/>
                <a:ea typeface="Calibri" pitchFamily="34" charset="-122"/>
                <a:cs typeface="Calibri" pitchFamily="34" charset="-120"/>
              </a:rPr>
              <a:t>OVERALL RISK</a:t>
            </a:r>
            <a:endParaRPr lang="en-US" sz="1100" dirty="0"/>
          </a:p>
        </p:txBody>
      </p:sp>
      <p:sp>
        <p:nvSpPr>
          <p:cNvPr id="5" name="Text 3"/>
          <p:cNvSpPr/>
          <p:nvPr/>
        </p:nvSpPr>
        <p:spPr>
          <a:xfrm>
            <a:off x="731520" y="2697480"/>
            <a:ext cx="2560320" cy="1645920"/>
          </a:xfrm>
          <a:prstGeom prst="rect">
            <a:avLst/>
          </a:prstGeom>
          <a:noFill/>
          <a:ln/>
        </p:spPr>
        <p:txBody>
          <a:bodyPr wrap="square" lIns="0" tIns="0" rIns="0" bIns="0" rtlCol="0" anchor="ctr"/>
          <a:lstStyle/>
          <a:p>
            <a:pPr indent="0" marL="0">
              <a:buNone/>
            </a:pPr>
            <a:r>
              <a:rPr lang="en-US" sz="11000" b="1" dirty="0">
                <a:solidFill>
                  <a:srgbClr val="DC2626"/>
                </a:solidFill>
                <a:latin typeface="Cambria" pitchFamily="34" charset="0"/>
                <a:ea typeface="Cambria" pitchFamily="34" charset="-122"/>
                <a:cs typeface="Cambria" pitchFamily="34" charset="-120"/>
              </a:rPr>
              <a:t>95</a:t>
            </a:r>
            <a:endParaRPr lang="en-US" sz="11000" dirty="0"/>
          </a:p>
        </p:txBody>
      </p:sp>
      <p:sp>
        <p:nvSpPr>
          <p:cNvPr id="6" name="Text 4"/>
          <p:cNvSpPr/>
          <p:nvPr/>
        </p:nvSpPr>
        <p:spPr>
          <a:xfrm>
            <a:off x="3017520" y="3566160"/>
            <a:ext cx="1371600" cy="548640"/>
          </a:xfrm>
          <a:prstGeom prst="rect">
            <a:avLst/>
          </a:prstGeom>
          <a:noFill/>
          <a:ln/>
        </p:spPr>
        <p:txBody>
          <a:bodyPr wrap="square" lIns="0" tIns="0" rIns="0" bIns="0" rtlCol="0" anchor="ctr"/>
          <a:lstStyle/>
          <a:p>
            <a:pPr indent="0" marL="0">
              <a:buNone/>
            </a:pPr>
            <a:r>
              <a:rPr lang="en-US" sz="2400" dirty="0">
                <a:solidFill>
                  <a:srgbClr val="475569"/>
                </a:solidFill>
                <a:latin typeface="Cambria" pitchFamily="34" charset="0"/>
                <a:ea typeface="Cambria" pitchFamily="34" charset="-122"/>
                <a:cs typeface="Cambria" pitchFamily="34" charset="-120"/>
              </a:rPr>
              <a:t>/100</a:t>
            </a:r>
            <a:endParaRPr lang="en-US" sz="2400" dirty="0"/>
          </a:p>
        </p:txBody>
      </p:sp>
      <p:sp>
        <p:nvSpPr>
          <p:cNvPr id="7" name="Text 5"/>
          <p:cNvSpPr/>
          <p:nvPr/>
        </p:nvSpPr>
        <p:spPr>
          <a:xfrm>
            <a:off x="731520" y="4480560"/>
            <a:ext cx="4754880" cy="164592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Multiple walkaway-level terms that individually justify rejection: unlimited customer liability, elimination of vendor IP indemnity, perpetual sublicensable license to customer data, three-year worldwide non-compete.</a:t>
            </a:r>
            <a:endParaRPr lang="en-US" sz="1200" dirty="0"/>
          </a:p>
        </p:txBody>
      </p:sp>
      <p:sp>
        <p:nvSpPr>
          <p:cNvPr id="8" name="Text 6"/>
          <p:cNvSpPr/>
          <p:nvPr/>
        </p:nvSpPr>
        <p:spPr>
          <a:xfrm>
            <a:off x="6035040" y="2377440"/>
            <a:ext cx="5486400" cy="274320"/>
          </a:xfrm>
          <a:prstGeom prst="rect">
            <a:avLst/>
          </a:prstGeom>
          <a:noFill/>
          <a:ln/>
        </p:spPr>
        <p:txBody>
          <a:bodyPr wrap="square" lIns="0" tIns="0" rIns="0" bIns="0" rtlCol="0" anchor="ctr"/>
          <a:lstStyle/>
          <a:p>
            <a:pPr indent="0" marL="0">
              <a:buNone/>
            </a:pPr>
            <a:r>
              <a:rPr lang="en-US" sz="1100" b="1" spc="400" kern="0" dirty="0">
                <a:solidFill>
                  <a:srgbClr val="94A3B8"/>
                </a:solidFill>
                <a:latin typeface="Calibri" pitchFamily="34" charset="0"/>
                <a:ea typeface="Calibri" pitchFamily="34" charset="-122"/>
                <a:cs typeface="Calibri" pitchFamily="34" charset="-120"/>
              </a:rPr>
              <a:t>CLAUSES — TOP DEVIATIONS</a:t>
            </a:r>
            <a:endParaRPr lang="en-US" sz="1100" dirty="0"/>
          </a:p>
        </p:txBody>
      </p:sp>
      <p:sp>
        <p:nvSpPr>
          <p:cNvPr id="9" name="Text 7"/>
          <p:cNvSpPr/>
          <p:nvPr/>
        </p:nvSpPr>
        <p:spPr>
          <a:xfrm>
            <a:off x="6035040" y="2834640"/>
            <a:ext cx="2926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limitation_of_liability</a:t>
            </a:r>
            <a:endParaRPr lang="en-US" sz="1300" dirty="0"/>
          </a:p>
        </p:txBody>
      </p:sp>
      <p:sp>
        <p:nvSpPr>
          <p:cNvPr id="10" name="Text 8"/>
          <p:cNvSpPr/>
          <p:nvPr/>
        </p:nvSpPr>
        <p:spPr>
          <a:xfrm>
            <a:off x="8961120" y="2862072"/>
            <a:ext cx="164592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§7.1 customer</a:t>
            </a:r>
            <a:endParaRPr lang="en-US" sz="1100" dirty="0"/>
          </a:p>
        </p:txBody>
      </p:sp>
      <p:sp>
        <p:nvSpPr>
          <p:cNvPr id="11" name="Shape 9"/>
          <p:cNvSpPr/>
          <p:nvPr/>
        </p:nvSpPr>
        <p:spPr>
          <a:xfrm>
            <a:off x="10744200" y="2852928"/>
            <a:ext cx="685800" cy="292608"/>
          </a:xfrm>
          <a:prstGeom prst="rect">
            <a:avLst/>
          </a:prstGeom>
          <a:solidFill>
            <a:srgbClr val="DC2626"/>
          </a:solidFill>
          <a:ln w="12700">
            <a:solidFill>
              <a:srgbClr val="DC2626"/>
            </a:solidFill>
            <a:prstDash val="solid"/>
          </a:ln>
        </p:spPr>
      </p:sp>
      <p:sp>
        <p:nvSpPr>
          <p:cNvPr id="12" name="Text 10"/>
          <p:cNvSpPr/>
          <p:nvPr/>
        </p:nvSpPr>
        <p:spPr>
          <a:xfrm>
            <a:off x="10744200" y="28346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95</a:t>
            </a:r>
            <a:endParaRPr lang="en-US" sz="1300" dirty="0"/>
          </a:p>
        </p:txBody>
      </p:sp>
      <p:sp>
        <p:nvSpPr>
          <p:cNvPr id="13" name="Shape 11"/>
          <p:cNvSpPr/>
          <p:nvPr/>
        </p:nvSpPr>
        <p:spPr>
          <a:xfrm>
            <a:off x="6035040" y="3246120"/>
            <a:ext cx="5486400" cy="0"/>
          </a:xfrm>
          <a:prstGeom prst="line">
            <a:avLst/>
          </a:prstGeom>
          <a:noFill/>
          <a:ln w="9525">
            <a:solidFill>
              <a:srgbClr val="E2E8F0"/>
            </a:solidFill>
            <a:prstDash val="solid"/>
          </a:ln>
        </p:spPr>
      </p:sp>
      <p:sp>
        <p:nvSpPr>
          <p:cNvPr id="14" name="Text 12"/>
          <p:cNvSpPr/>
          <p:nvPr/>
        </p:nvSpPr>
        <p:spPr>
          <a:xfrm>
            <a:off x="6035040" y="3291840"/>
            <a:ext cx="2926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indemnification</a:t>
            </a:r>
            <a:endParaRPr lang="en-US" sz="1300" dirty="0"/>
          </a:p>
        </p:txBody>
      </p:sp>
      <p:sp>
        <p:nvSpPr>
          <p:cNvPr id="15" name="Text 13"/>
          <p:cNvSpPr/>
          <p:nvPr/>
        </p:nvSpPr>
        <p:spPr>
          <a:xfrm>
            <a:off x="8961120" y="3319272"/>
            <a:ext cx="164592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§8.2 no vendor indemnity</a:t>
            </a:r>
            <a:endParaRPr lang="en-US" sz="1100" dirty="0"/>
          </a:p>
        </p:txBody>
      </p:sp>
      <p:sp>
        <p:nvSpPr>
          <p:cNvPr id="16" name="Shape 14"/>
          <p:cNvSpPr/>
          <p:nvPr/>
        </p:nvSpPr>
        <p:spPr>
          <a:xfrm>
            <a:off x="10744200" y="3310128"/>
            <a:ext cx="685800" cy="292608"/>
          </a:xfrm>
          <a:prstGeom prst="rect">
            <a:avLst/>
          </a:prstGeom>
          <a:solidFill>
            <a:srgbClr val="DC2626"/>
          </a:solidFill>
          <a:ln w="12700">
            <a:solidFill>
              <a:srgbClr val="DC2626"/>
            </a:solidFill>
            <a:prstDash val="solid"/>
          </a:ln>
        </p:spPr>
      </p:sp>
      <p:sp>
        <p:nvSpPr>
          <p:cNvPr id="17" name="Text 15"/>
          <p:cNvSpPr/>
          <p:nvPr/>
        </p:nvSpPr>
        <p:spPr>
          <a:xfrm>
            <a:off x="10744200" y="32918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95</a:t>
            </a:r>
            <a:endParaRPr lang="en-US" sz="1300" dirty="0"/>
          </a:p>
        </p:txBody>
      </p:sp>
      <p:sp>
        <p:nvSpPr>
          <p:cNvPr id="18" name="Shape 16"/>
          <p:cNvSpPr/>
          <p:nvPr/>
        </p:nvSpPr>
        <p:spPr>
          <a:xfrm>
            <a:off x="6035040" y="3703320"/>
            <a:ext cx="5486400" cy="0"/>
          </a:xfrm>
          <a:prstGeom prst="line">
            <a:avLst/>
          </a:prstGeom>
          <a:noFill/>
          <a:ln w="9525">
            <a:solidFill>
              <a:srgbClr val="E2E8F0"/>
            </a:solidFill>
            <a:prstDash val="solid"/>
          </a:ln>
        </p:spPr>
      </p:sp>
      <p:sp>
        <p:nvSpPr>
          <p:cNvPr id="19" name="Text 17"/>
          <p:cNvSpPr/>
          <p:nvPr/>
        </p:nvSpPr>
        <p:spPr>
          <a:xfrm>
            <a:off x="6035040" y="3749040"/>
            <a:ext cx="2926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intellectual_property</a:t>
            </a:r>
            <a:endParaRPr lang="en-US" sz="1300" dirty="0"/>
          </a:p>
        </p:txBody>
      </p:sp>
      <p:sp>
        <p:nvSpPr>
          <p:cNvPr id="20" name="Text 18"/>
          <p:cNvSpPr/>
          <p:nvPr/>
        </p:nvSpPr>
        <p:spPr>
          <a:xfrm>
            <a:off x="8961120" y="3776472"/>
            <a:ext cx="164592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§4.2 customer data</a:t>
            </a:r>
            <a:endParaRPr lang="en-US" sz="1100" dirty="0"/>
          </a:p>
        </p:txBody>
      </p:sp>
      <p:sp>
        <p:nvSpPr>
          <p:cNvPr id="21" name="Shape 19"/>
          <p:cNvSpPr/>
          <p:nvPr/>
        </p:nvSpPr>
        <p:spPr>
          <a:xfrm>
            <a:off x="10744200" y="3767328"/>
            <a:ext cx="685800" cy="292608"/>
          </a:xfrm>
          <a:prstGeom prst="rect">
            <a:avLst/>
          </a:prstGeom>
          <a:solidFill>
            <a:srgbClr val="DC2626"/>
          </a:solidFill>
          <a:ln w="12700">
            <a:solidFill>
              <a:srgbClr val="DC2626"/>
            </a:solidFill>
            <a:prstDash val="solid"/>
          </a:ln>
        </p:spPr>
      </p:sp>
      <p:sp>
        <p:nvSpPr>
          <p:cNvPr id="22" name="Text 20"/>
          <p:cNvSpPr/>
          <p:nvPr/>
        </p:nvSpPr>
        <p:spPr>
          <a:xfrm>
            <a:off x="10744200" y="37490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92</a:t>
            </a:r>
            <a:endParaRPr lang="en-US" sz="1300" dirty="0"/>
          </a:p>
        </p:txBody>
      </p:sp>
      <p:sp>
        <p:nvSpPr>
          <p:cNvPr id="23" name="Shape 21"/>
          <p:cNvSpPr/>
          <p:nvPr/>
        </p:nvSpPr>
        <p:spPr>
          <a:xfrm>
            <a:off x="6035040" y="4160520"/>
            <a:ext cx="5486400" cy="0"/>
          </a:xfrm>
          <a:prstGeom prst="line">
            <a:avLst/>
          </a:prstGeom>
          <a:noFill/>
          <a:ln w="9525">
            <a:solidFill>
              <a:srgbClr val="E2E8F0"/>
            </a:solidFill>
            <a:prstDash val="solid"/>
          </a:ln>
        </p:spPr>
      </p:sp>
      <p:sp>
        <p:nvSpPr>
          <p:cNvPr id="24" name="Text 22"/>
          <p:cNvSpPr/>
          <p:nvPr/>
        </p:nvSpPr>
        <p:spPr>
          <a:xfrm>
            <a:off x="6035040" y="4206240"/>
            <a:ext cx="2926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non_compete</a:t>
            </a:r>
            <a:endParaRPr lang="en-US" sz="1300" dirty="0"/>
          </a:p>
        </p:txBody>
      </p:sp>
      <p:sp>
        <p:nvSpPr>
          <p:cNvPr id="25" name="Text 23"/>
          <p:cNvSpPr/>
          <p:nvPr/>
        </p:nvSpPr>
        <p:spPr>
          <a:xfrm>
            <a:off x="8961120" y="4233672"/>
            <a:ext cx="164592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§10.1 worldwide 3-yr</a:t>
            </a:r>
            <a:endParaRPr lang="en-US" sz="1100" dirty="0"/>
          </a:p>
        </p:txBody>
      </p:sp>
      <p:sp>
        <p:nvSpPr>
          <p:cNvPr id="26" name="Shape 24"/>
          <p:cNvSpPr/>
          <p:nvPr/>
        </p:nvSpPr>
        <p:spPr>
          <a:xfrm>
            <a:off x="10744200" y="4224528"/>
            <a:ext cx="685800" cy="292608"/>
          </a:xfrm>
          <a:prstGeom prst="rect">
            <a:avLst/>
          </a:prstGeom>
          <a:solidFill>
            <a:srgbClr val="DC2626"/>
          </a:solidFill>
          <a:ln w="12700">
            <a:solidFill>
              <a:srgbClr val="DC2626"/>
            </a:solidFill>
            <a:prstDash val="solid"/>
          </a:ln>
        </p:spPr>
      </p:sp>
      <p:sp>
        <p:nvSpPr>
          <p:cNvPr id="27" name="Text 25"/>
          <p:cNvSpPr/>
          <p:nvPr/>
        </p:nvSpPr>
        <p:spPr>
          <a:xfrm>
            <a:off x="10744200" y="42062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95</a:t>
            </a:r>
            <a:endParaRPr lang="en-US" sz="1300" dirty="0"/>
          </a:p>
        </p:txBody>
      </p:sp>
      <p:sp>
        <p:nvSpPr>
          <p:cNvPr id="28" name="Shape 26"/>
          <p:cNvSpPr/>
          <p:nvPr/>
        </p:nvSpPr>
        <p:spPr>
          <a:xfrm>
            <a:off x="6035040" y="4617720"/>
            <a:ext cx="5486400" cy="0"/>
          </a:xfrm>
          <a:prstGeom prst="line">
            <a:avLst/>
          </a:prstGeom>
          <a:noFill/>
          <a:ln w="9525">
            <a:solidFill>
              <a:srgbClr val="E2E8F0"/>
            </a:solidFill>
            <a:prstDash val="solid"/>
          </a:ln>
        </p:spPr>
      </p:sp>
      <p:sp>
        <p:nvSpPr>
          <p:cNvPr id="29" name="Text 27"/>
          <p:cNvSpPr/>
          <p:nvPr/>
        </p:nvSpPr>
        <p:spPr>
          <a:xfrm>
            <a:off x="6035040" y="4663440"/>
            <a:ext cx="2926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data_protection</a:t>
            </a:r>
            <a:endParaRPr lang="en-US" sz="1300" dirty="0"/>
          </a:p>
        </p:txBody>
      </p:sp>
      <p:sp>
        <p:nvSpPr>
          <p:cNvPr id="30" name="Text 28"/>
          <p:cNvSpPr/>
          <p:nvPr/>
        </p:nvSpPr>
        <p:spPr>
          <a:xfrm>
            <a:off x="8961120" y="4690872"/>
            <a:ext cx="164592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§9.1 no DPA</a:t>
            </a:r>
            <a:endParaRPr lang="en-US" sz="1100" dirty="0"/>
          </a:p>
        </p:txBody>
      </p:sp>
      <p:sp>
        <p:nvSpPr>
          <p:cNvPr id="31" name="Shape 29"/>
          <p:cNvSpPr/>
          <p:nvPr/>
        </p:nvSpPr>
        <p:spPr>
          <a:xfrm>
            <a:off x="10744200" y="4681728"/>
            <a:ext cx="685800" cy="292608"/>
          </a:xfrm>
          <a:prstGeom prst="rect">
            <a:avLst/>
          </a:prstGeom>
          <a:solidFill>
            <a:srgbClr val="DC2626"/>
          </a:solidFill>
          <a:ln w="12700">
            <a:solidFill>
              <a:srgbClr val="DC2626"/>
            </a:solidFill>
            <a:prstDash val="solid"/>
          </a:ln>
        </p:spPr>
      </p:sp>
      <p:sp>
        <p:nvSpPr>
          <p:cNvPr id="32" name="Text 30"/>
          <p:cNvSpPr/>
          <p:nvPr/>
        </p:nvSpPr>
        <p:spPr>
          <a:xfrm>
            <a:off x="10744200" y="46634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92</a:t>
            </a:r>
            <a:endParaRPr lang="en-US" sz="1300" dirty="0"/>
          </a:p>
        </p:txBody>
      </p:sp>
      <p:sp>
        <p:nvSpPr>
          <p:cNvPr id="33" name="Shape 31"/>
          <p:cNvSpPr/>
          <p:nvPr/>
        </p:nvSpPr>
        <p:spPr>
          <a:xfrm>
            <a:off x="6035040" y="5074920"/>
            <a:ext cx="5486400" cy="0"/>
          </a:xfrm>
          <a:prstGeom prst="line">
            <a:avLst/>
          </a:prstGeom>
          <a:noFill/>
          <a:ln w="9525">
            <a:solidFill>
              <a:srgbClr val="E2E8F0"/>
            </a:solidFill>
            <a:prstDash val="solid"/>
          </a:ln>
        </p:spPr>
      </p:sp>
      <p:sp>
        <p:nvSpPr>
          <p:cNvPr id="34" name="Text 32"/>
          <p:cNvSpPr/>
          <p:nvPr/>
        </p:nvSpPr>
        <p:spPr>
          <a:xfrm>
            <a:off x="6035040" y="5120640"/>
            <a:ext cx="2926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governing_law</a:t>
            </a:r>
            <a:endParaRPr lang="en-US" sz="1300" dirty="0"/>
          </a:p>
        </p:txBody>
      </p:sp>
      <p:sp>
        <p:nvSpPr>
          <p:cNvPr id="35" name="Text 33"/>
          <p:cNvSpPr/>
          <p:nvPr/>
        </p:nvSpPr>
        <p:spPr>
          <a:xfrm>
            <a:off x="8961120" y="5148072"/>
            <a:ext cx="164592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§11.2 Cayman + ICC</a:t>
            </a:r>
            <a:endParaRPr lang="en-US" sz="1100" dirty="0"/>
          </a:p>
        </p:txBody>
      </p:sp>
      <p:sp>
        <p:nvSpPr>
          <p:cNvPr id="36" name="Shape 34"/>
          <p:cNvSpPr/>
          <p:nvPr/>
        </p:nvSpPr>
        <p:spPr>
          <a:xfrm>
            <a:off x="10744200" y="5138928"/>
            <a:ext cx="685800" cy="292608"/>
          </a:xfrm>
          <a:prstGeom prst="rect">
            <a:avLst/>
          </a:prstGeom>
          <a:solidFill>
            <a:srgbClr val="B45309"/>
          </a:solidFill>
          <a:ln w="12700">
            <a:solidFill>
              <a:srgbClr val="B45309"/>
            </a:solidFill>
            <a:prstDash val="solid"/>
          </a:ln>
        </p:spPr>
      </p:sp>
      <p:sp>
        <p:nvSpPr>
          <p:cNvPr id="37" name="Text 35"/>
          <p:cNvSpPr/>
          <p:nvPr/>
        </p:nvSpPr>
        <p:spPr>
          <a:xfrm>
            <a:off x="10744200" y="51206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85</a:t>
            </a:r>
            <a:endParaRPr lang="en-US" sz="1300" dirty="0"/>
          </a:p>
        </p:txBody>
      </p:sp>
      <p:sp>
        <p:nvSpPr>
          <p:cNvPr id="38" name="Shape 36"/>
          <p:cNvSpPr/>
          <p:nvPr/>
        </p:nvSpPr>
        <p:spPr>
          <a:xfrm>
            <a:off x="6035040" y="5532120"/>
            <a:ext cx="5486400" cy="0"/>
          </a:xfrm>
          <a:prstGeom prst="line">
            <a:avLst/>
          </a:prstGeom>
          <a:noFill/>
          <a:ln w="9525">
            <a:solidFill>
              <a:srgbClr val="E2E8F0"/>
            </a:solidFill>
            <a:prstDash val="solid"/>
          </a:ln>
        </p:spPr>
      </p:sp>
      <p:sp>
        <p:nvSpPr>
          <p:cNvPr id="39" name="Text 37"/>
          <p:cNvSpPr/>
          <p:nvPr/>
        </p:nvSpPr>
        <p:spPr>
          <a:xfrm>
            <a:off x="6035040" y="5577840"/>
            <a:ext cx="29260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payment_terms</a:t>
            </a:r>
            <a:endParaRPr lang="en-US" sz="1300" dirty="0"/>
          </a:p>
        </p:txBody>
      </p:sp>
      <p:sp>
        <p:nvSpPr>
          <p:cNvPr id="40" name="Text 38"/>
          <p:cNvSpPr/>
          <p:nvPr/>
        </p:nvSpPr>
        <p:spPr>
          <a:xfrm>
            <a:off x="8961120" y="5605272"/>
            <a:ext cx="164592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§2.2 Net 7, 3%/mo</a:t>
            </a:r>
            <a:endParaRPr lang="en-US" sz="1100" dirty="0"/>
          </a:p>
        </p:txBody>
      </p:sp>
      <p:sp>
        <p:nvSpPr>
          <p:cNvPr id="41" name="Shape 39"/>
          <p:cNvSpPr/>
          <p:nvPr/>
        </p:nvSpPr>
        <p:spPr>
          <a:xfrm>
            <a:off x="10744200" y="5596128"/>
            <a:ext cx="685800" cy="292608"/>
          </a:xfrm>
          <a:prstGeom prst="rect">
            <a:avLst/>
          </a:prstGeom>
          <a:solidFill>
            <a:srgbClr val="B45309"/>
          </a:solidFill>
          <a:ln w="12700">
            <a:solidFill>
              <a:srgbClr val="B45309"/>
            </a:solidFill>
            <a:prstDash val="solid"/>
          </a:ln>
        </p:spPr>
      </p:sp>
      <p:sp>
        <p:nvSpPr>
          <p:cNvPr id="42" name="Text 40"/>
          <p:cNvSpPr/>
          <p:nvPr/>
        </p:nvSpPr>
        <p:spPr>
          <a:xfrm>
            <a:off x="10744200" y="5577840"/>
            <a:ext cx="6858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82</a:t>
            </a:r>
            <a:endParaRPr lang="en-US" sz="1300" dirty="0"/>
          </a:p>
        </p:txBody>
      </p:sp>
      <p:sp>
        <p:nvSpPr>
          <p:cNvPr id="43" name="Text 41"/>
          <p:cNvSpPr/>
          <p:nvPr/>
        </p:nvSpPr>
        <p:spPr>
          <a:xfrm>
            <a:off x="731520" y="6263640"/>
            <a:ext cx="1051560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Reviewer sees the full clause text, alignment verdict, deviations list, AI rationale, and a suggested redline per clause. Override fields write back to graph state.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10972800" cy="73152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When the AI is wrong, the system catches it</a:t>
            </a:r>
            <a:endParaRPr lang="en-US" sz="3200" dirty="0"/>
          </a:p>
        </p:txBody>
      </p:sp>
      <p:sp>
        <p:nvSpPr>
          <p:cNvPr id="3" name="Text 1"/>
          <p:cNvSpPr/>
          <p:nvPr/>
        </p:nvSpPr>
        <p:spPr>
          <a:xfrm>
            <a:off x="731520" y="1417320"/>
            <a:ext cx="10515600" cy="64008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First production run on the aggressive contract. The compare agent claimed termination provisions were missing. They weren't.</a:t>
            </a:r>
            <a:endParaRPr lang="en-US" sz="1500" dirty="0"/>
          </a:p>
        </p:txBody>
      </p:sp>
      <p:sp>
        <p:nvSpPr>
          <p:cNvPr id="4" name="Shape 2"/>
          <p:cNvSpPr/>
          <p:nvPr/>
        </p:nvSpPr>
        <p:spPr>
          <a:xfrm>
            <a:off x="731520" y="2468880"/>
            <a:ext cx="10698480" cy="2011680"/>
          </a:xfrm>
          <a:prstGeom prst="rect">
            <a:avLst/>
          </a:prstGeom>
          <a:solidFill>
            <a:srgbClr val="FEF3C7">
              <a:alpha val="70000"/>
            </a:srgbClr>
          </a:solidFill>
          <a:ln w="12700">
            <a:solidFill>
              <a:srgbClr val="FEF3C7"/>
            </a:solidFill>
            <a:prstDash val="solid"/>
          </a:ln>
        </p:spPr>
      </p:sp>
      <p:sp>
        <p:nvSpPr>
          <p:cNvPr id="5" name="Shape 3"/>
          <p:cNvSpPr/>
          <p:nvPr/>
        </p:nvSpPr>
        <p:spPr>
          <a:xfrm>
            <a:off x="731520" y="2468880"/>
            <a:ext cx="109728" cy="2011680"/>
          </a:xfrm>
          <a:prstGeom prst="rect">
            <a:avLst/>
          </a:prstGeom>
          <a:solidFill>
            <a:srgbClr val="B45309"/>
          </a:solidFill>
          <a:ln w="12700">
            <a:solidFill>
              <a:srgbClr val="B45309"/>
            </a:solidFill>
            <a:prstDash val="solid"/>
          </a:ln>
        </p:spPr>
      </p:sp>
      <p:sp>
        <p:nvSpPr>
          <p:cNvPr id="6" name="Text 4"/>
          <p:cNvSpPr/>
          <p:nvPr/>
        </p:nvSpPr>
        <p:spPr>
          <a:xfrm>
            <a:off x="1097280" y="2743200"/>
            <a:ext cx="9144000" cy="274320"/>
          </a:xfrm>
          <a:prstGeom prst="rect">
            <a:avLst/>
          </a:prstGeom>
          <a:noFill/>
          <a:ln/>
        </p:spPr>
        <p:txBody>
          <a:bodyPr wrap="square" lIns="0" tIns="0" rIns="0" bIns="0" rtlCol="0" anchor="ctr"/>
          <a:lstStyle/>
          <a:p>
            <a:pPr indent="0" marL="0">
              <a:buNone/>
            </a:pPr>
            <a:r>
              <a:rPr lang="en-US" sz="1100" b="1" spc="400" kern="0" dirty="0">
                <a:solidFill>
                  <a:srgbClr val="B45309"/>
                </a:solidFill>
                <a:latin typeface="Calibri" pitchFamily="34" charset="0"/>
                <a:ea typeface="Calibri" pitchFamily="34" charset="-122"/>
                <a:cs typeface="Calibri" pitchFamily="34" charset="-120"/>
              </a:rPr>
              <a:t>VERIFIER FINDING — HIGH SEVERITY</a:t>
            </a:r>
            <a:endParaRPr lang="en-US" sz="1100" dirty="0"/>
          </a:p>
        </p:txBody>
      </p:sp>
      <p:sp>
        <p:nvSpPr>
          <p:cNvPr id="7" name="Text 5"/>
          <p:cNvSpPr/>
          <p:nvPr/>
        </p:nvSpPr>
        <p:spPr>
          <a:xfrm>
            <a:off x="1097280" y="3108960"/>
            <a:ext cx="10058400" cy="1280160"/>
          </a:xfrm>
          <a:prstGeom prst="rect">
            <a:avLst/>
          </a:prstGeom>
          <a:noFill/>
          <a:ln/>
        </p:spPr>
        <p:txBody>
          <a:bodyPr wrap="square" lIns="0" tIns="0" rIns="0" bIns="0"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“AI claims termination provisions are 'omitted entirely' but source shows Section 3.2 exists with Vertex termination rights. AI did not review complete termination section before concluding provisions were missing.”</a:t>
            </a:r>
            <a:endParaRPr lang="en-US" sz="1800" dirty="0"/>
          </a:p>
        </p:txBody>
      </p:sp>
      <p:sp>
        <p:nvSpPr>
          <p:cNvPr id="8" name="Shape 6"/>
          <p:cNvSpPr/>
          <p:nvPr/>
        </p:nvSpPr>
        <p:spPr>
          <a:xfrm>
            <a:off x="777240" y="4846320"/>
            <a:ext cx="457200" cy="457200"/>
          </a:xfrm>
          <a:prstGeom prst="ellipse">
            <a:avLst/>
          </a:prstGeom>
          <a:solidFill>
            <a:srgbClr val="1E2761"/>
          </a:solidFill>
          <a:ln w="12700">
            <a:solidFill>
              <a:srgbClr val="1E2761"/>
            </a:solidFill>
            <a:prstDash val="solid"/>
          </a:ln>
        </p:spPr>
      </p:sp>
      <p:sp>
        <p:nvSpPr>
          <p:cNvPr id="9" name="Text 7"/>
          <p:cNvSpPr/>
          <p:nvPr/>
        </p:nvSpPr>
        <p:spPr>
          <a:xfrm>
            <a:off x="777240" y="4846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417320" y="4864608"/>
            <a:ext cx="2743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Independent check</a:t>
            </a:r>
            <a:endParaRPr lang="en-US" sz="1600" dirty="0"/>
          </a:p>
        </p:txBody>
      </p:sp>
      <p:sp>
        <p:nvSpPr>
          <p:cNvPr id="11" name="Text 9"/>
          <p:cNvSpPr/>
          <p:nvPr/>
        </p:nvSpPr>
        <p:spPr>
          <a:xfrm>
            <a:off x="1417320" y="5303520"/>
            <a:ext cx="2743200" cy="13716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Verifier reads source contract directly. Doesn't see compare agent's verdict before judging.</a:t>
            </a:r>
            <a:endParaRPr lang="en-US" sz="1100" dirty="0"/>
          </a:p>
        </p:txBody>
      </p:sp>
      <p:sp>
        <p:nvSpPr>
          <p:cNvPr id="12" name="Shape 10"/>
          <p:cNvSpPr/>
          <p:nvPr/>
        </p:nvSpPr>
        <p:spPr>
          <a:xfrm>
            <a:off x="4389120" y="4846320"/>
            <a:ext cx="457200" cy="457200"/>
          </a:xfrm>
          <a:prstGeom prst="ellipse">
            <a:avLst/>
          </a:prstGeom>
          <a:solidFill>
            <a:srgbClr val="1E2761"/>
          </a:solidFill>
          <a:ln w="12700">
            <a:solidFill>
              <a:srgbClr val="1E2761"/>
            </a:solidFill>
            <a:prstDash val="solid"/>
          </a:ln>
        </p:spPr>
      </p:sp>
      <p:sp>
        <p:nvSpPr>
          <p:cNvPr id="13" name="Text 11"/>
          <p:cNvSpPr/>
          <p:nvPr/>
        </p:nvSpPr>
        <p:spPr>
          <a:xfrm>
            <a:off x="4389120" y="4846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5029200" y="4864608"/>
            <a:ext cx="2743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Different prompt</a:t>
            </a:r>
            <a:endParaRPr lang="en-US" sz="1600" dirty="0"/>
          </a:p>
        </p:txBody>
      </p:sp>
      <p:sp>
        <p:nvSpPr>
          <p:cNvPr id="15" name="Text 13"/>
          <p:cNvSpPr/>
          <p:nvPr/>
        </p:nvSpPr>
        <p:spPr>
          <a:xfrm>
            <a:off x="5029200" y="5303520"/>
            <a:ext cx="2743200" cy="13716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Asks 'is the quote faithful?' and 'is the rationale supported?' — orthogonal to original task.</a:t>
            </a:r>
            <a:endParaRPr lang="en-US" sz="1100" dirty="0"/>
          </a:p>
        </p:txBody>
      </p:sp>
      <p:sp>
        <p:nvSpPr>
          <p:cNvPr id="16" name="Shape 14"/>
          <p:cNvSpPr/>
          <p:nvPr/>
        </p:nvSpPr>
        <p:spPr>
          <a:xfrm>
            <a:off x="8001000" y="4846320"/>
            <a:ext cx="457200" cy="457200"/>
          </a:xfrm>
          <a:prstGeom prst="ellipse">
            <a:avLst/>
          </a:prstGeom>
          <a:solidFill>
            <a:srgbClr val="1E2761"/>
          </a:solidFill>
          <a:ln w="12700">
            <a:solidFill>
              <a:srgbClr val="1E2761"/>
            </a:solidFill>
            <a:prstDash val="solid"/>
          </a:ln>
        </p:spPr>
      </p:sp>
      <p:sp>
        <p:nvSpPr>
          <p:cNvPr id="17" name="Text 15"/>
          <p:cNvSpPr/>
          <p:nvPr/>
        </p:nvSpPr>
        <p:spPr>
          <a:xfrm>
            <a:off x="8001000" y="4846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641080" y="4864608"/>
            <a:ext cx="27432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Forces escalation</a:t>
            </a:r>
            <a:endParaRPr lang="en-US" sz="1600" dirty="0"/>
          </a:p>
        </p:txBody>
      </p:sp>
      <p:sp>
        <p:nvSpPr>
          <p:cNvPr id="19" name="Text 17"/>
          <p:cNvSpPr/>
          <p:nvPr/>
        </p:nvSpPr>
        <p:spPr>
          <a:xfrm>
            <a:off x="8641080" y="5303520"/>
            <a:ext cx="2743200" cy="13716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High-severity finding routes to HITL gate even when overall risk is otherwise tolerable.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10972800" cy="64008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What it costs</a:t>
            </a:r>
            <a:endParaRPr lang="en-US" sz="3600" dirty="0"/>
          </a:p>
        </p:txBody>
      </p:sp>
      <p:sp>
        <p:nvSpPr>
          <p:cNvPr id="3" name="Text 1"/>
          <p:cNvSpPr/>
          <p:nvPr/>
        </p:nvSpPr>
        <p:spPr>
          <a:xfrm>
            <a:off x="731520" y="1325880"/>
            <a:ext cx="10515600" cy="45720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Per-contract cost reconstructed from the audit log. Sonnet 4.5 list pricing.</a:t>
            </a:r>
            <a:endParaRPr lang="en-US" sz="1500" dirty="0"/>
          </a:p>
        </p:txBody>
      </p:sp>
      <p:sp>
        <p:nvSpPr>
          <p:cNvPr id="4" name="Shape 2"/>
          <p:cNvSpPr/>
          <p:nvPr/>
        </p:nvSpPr>
        <p:spPr>
          <a:xfrm>
            <a:off x="731520" y="2377440"/>
            <a:ext cx="5349240" cy="2377440"/>
          </a:xfrm>
          <a:prstGeom prst="rect">
            <a:avLst/>
          </a:prstGeom>
          <a:solidFill>
            <a:srgbClr val="1E2761"/>
          </a:solidFill>
          <a:ln w="12700">
            <a:solidFill>
              <a:srgbClr val="1E2761"/>
            </a:solidFill>
            <a:prstDash val="solid"/>
          </a:ln>
        </p:spPr>
      </p:sp>
      <p:sp>
        <p:nvSpPr>
          <p:cNvPr id="5" name="Text 3"/>
          <p:cNvSpPr/>
          <p:nvPr/>
        </p:nvSpPr>
        <p:spPr>
          <a:xfrm>
            <a:off x="1005840" y="2651760"/>
            <a:ext cx="4572000" cy="274320"/>
          </a:xfrm>
          <a:prstGeom prst="rect">
            <a:avLst/>
          </a:prstGeom>
          <a:noFill/>
          <a:ln/>
        </p:spPr>
        <p:txBody>
          <a:bodyPr wrap="square" lIns="0" tIns="0" rIns="0" bIns="0"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PER CONTRACT</a:t>
            </a:r>
            <a:endParaRPr lang="en-US" sz="1100" dirty="0"/>
          </a:p>
        </p:txBody>
      </p:sp>
      <p:sp>
        <p:nvSpPr>
          <p:cNvPr id="6" name="Text 4"/>
          <p:cNvSpPr/>
          <p:nvPr/>
        </p:nvSpPr>
        <p:spPr>
          <a:xfrm>
            <a:off x="1005840" y="3017520"/>
            <a:ext cx="4572000" cy="1280160"/>
          </a:xfrm>
          <a:prstGeom prst="rect">
            <a:avLst/>
          </a:prstGeom>
          <a:noFill/>
          <a:ln/>
        </p:spPr>
        <p:txBody>
          <a:bodyPr wrap="square" lIns="0" tIns="0" rIns="0" bIns="0" rtlCol="0" anchor="ctr"/>
          <a:lstStyle/>
          <a:p>
            <a:pPr indent="0" marL="0">
              <a:buNone/>
            </a:pPr>
            <a:r>
              <a:rPr lang="en-US" sz="8400" b="1" dirty="0">
                <a:solidFill>
                  <a:srgbClr val="FFFFFF"/>
                </a:solidFill>
                <a:latin typeface="Cambria" pitchFamily="34" charset="0"/>
                <a:ea typeface="Cambria" pitchFamily="34" charset="-122"/>
                <a:cs typeface="Cambria" pitchFamily="34" charset="-120"/>
              </a:rPr>
              <a:t>$0.33</a:t>
            </a:r>
            <a:endParaRPr lang="en-US" sz="8400" dirty="0"/>
          </a:p>
        </p:txBody>
      </p:sp>
      <p:sp>
        <p:nvSpPr>
          <p:cNvPr id="7" name="Text 5"/>
          <p:cNvSpPr/>
          <p:nvPr/>
        </p:nvSpPr>
        <p:spPr>
          <a:xfrm>
            <a:off x="1005840" y="4206240"/>
            <a:ext cx="4800600" cy="45720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1,500-word contract · 21 clauses extracted · 66 LLM calls · 21 retrievals · ~5 min runtime</a:t>
            </a:r>
            <a:endParaRPr lang="en-US" sz="1100" dirty="0"/>
          </a:p>
        </p:txBody>
      </p:sp>
      <p:sp>
        <p:nvSpPr>
          <p:cNvPr id="8" name="Shape 6"/>
          <p:cNvSpPr/>
          <p:nvPr/>
        </p:nvSpPr>
        <p:spPr>
          <a:xfrm>
            <a:off x="6400800" y="2377440"/>
            <a:ext cx="5349240" cy="2377440"/>
          </a:xfrm>
          <a:prstGeom prst="rect">
            <a:avLst/>
          </a:prstGeom>
          <a:solidFill>
            <a:srgbClr val="CADCFC"/>
          </a:solidFill>
          <a:ln w="12700">
            <a:solidFill>
              <a:srgbClr val="CADCFC"/>
            </a:solidFill>
            <a:prstDash val="solid"/>
          </a:ln>
        </p:spPr>
      </p:sp>
      <p:sp>
        <p:nvSpPr>
          <p:cNvPr id="9" name="Shape 7"/>
          <p:cNvSpPr/>
          <p:nvPr/>
        </p:nvSpPr>
        <p:spPr>
          <a:xfrm>
            <a:off x="6400800" y="2377440"/>
            <a:ext cx="109728" cy="2377440"/>
          </a:xfrm>
          <a:prstGeom prst="rect">
            <a:avLst/>
          </a:prstGeom>
          <a:solidFill>
            <a:srgbClr val="1E2761"/>
          </a:solidFill>
          <a:ln w="12700">
            <a:solidFill>
              <a:srgbClr val="1E2761"/>
            </a:solidFill>
            <a:prstDash val="solid"/>
          </a:ln>
        </p:spPr>
      </p:sp>
      <p:sp>
        <p:nvSpPr>
          <p:cNvPr id="10" name="Text 8"/>
          <p:cNvSpPr/>
          <p:nvPr/>
        </p:nvSpPr>
        <p:spPr>
          <a:xfrm>
            <a:off x="6675120" y="2651760"/>
            <a:ext cx="4572000" cy="274320"/>
          </a:xfrm>
          <a:prstGeom prst="rect">
            <a:avLst/>
          </a:prstGeom>
          <a:noFill/>
          <a:ln/>
        </p:spPr>
        <p:txBody>
          <a:bodyPr wrap="square" lIns="0" tIns="0" rIns="0" bIns="0" rtlCol="0" anchor="ctr"/>
          <a:lstStyle/>
          <a:p>
            <a:pPr indent="0" marL="0">
              <a:buNone/>
            </a:pPr>
            <a:r>
              <a:rPr lang="en-US" sz="1100" b="1" spc="400" kern="0" dirty="0">
                <a:solidFill>
                  <a:srgbClr val="1E2761"/>
                </a:solidFill>
                <a:latin typeface="Calibri" pitchFamily="34" charset="0"/>
                <a:ea typeface="Calibri" pitchFamily="34" charset="-122"/>
                <a:cs typeface="Calibri" pitchFamily="34" charset="-120"/>
              </a:rPr>
              <a:t>AT 10K CONTRACTS / MONTH</a:t>
            </a:r>
            <a:endParaRPr lang="en-US" sz="1100" dirty="0"/>
          </a:p>
        </p:txBody>
      </p:sp>
      <p:sp>
        <p:nvSpPr>
          <p:cNvPr id="11" name="Text 9"/>
          <p:cNvSpPr/>
          <p:nvPr/>
        </p:nvSpPr>
        <p:spPr>
          <a:xfrm>
            <a:off x="6675120" y="3017520"/>
            <a:ext cx="5029200" cy="1280160"/>
          </a:xfrm>
          <a:prstGeom prst="rect">
            <a:avLst/>
          </a:prstGeom>
          <a:noFill/>
          <a:ln/>
        </p:spPr>
        <p:txBody>
          <a:bodyPr wrap="square" lIns="0" tIns="0" rIns="0" bIns="0" rtlCol="0" anchor="ctr"/>
          <a:lstStyle/>
          <a:p>
            <a:pPr indent="0" marL="0">
              <a:buNone/>
            </a:pPr>
            <a:r>
              <a:rPr lang="en-US" sz="8400" b="1" dirty="0">
                <a:solidFill>
                  <a:srgbClr val="1E2761"/>
                </a:solidFill>
                <a:latin typeface="Cambria" pitchFamily="34" charset="0"/>
                <a:ea typeface="Cambria" pitchFamily="34" charset="-122"/>
                <a:cs typeface="Cambria" pitchFamily="34" charset="-120"/>
              </a:rPr>
              <a:t>$3,300</a:t>
            </a:r>
            <a:endParaRPr lang="en-US" sz="8400" dirty="0"/>
          </a:p>
        </p:txBody>
      </p:sp>
      <p:sp>
        <p:nvSpPr>
          <p:cNvPr id="12" name="Text 10"/>
          <p:cNvSpPr/>
          <p:nvPr/>
        </p:nvSpPr>
        <p:spPr>
          <a:xfrm>
            <a:off x="6675120" y="4206240"/>
            <a:ext cx="4800600" cy="45720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LLM spend per month at the volume of a midsize ALSP contract operation. Bottleneck becomes human review capacity, not AI throughput.</a:t>
            </a:r>
            <a:endParaRPr lang="en-US" sz="1100" dirty="0"/>
          </a:p>
        </p:txBody>
      </p:sp>
      <p:sp>
        <p:nvSpPr>
          <p:cNvPr id="13" name="Text 11"/>
          <p:cNvSpPr/>
          <p:nvPr/>
        </p:nvSpPr>
        <p:spPr>
          <a:xfrm>
            <a:off x="594360" y="5120640"/>
            <a:ext cx="2468880" cy="64008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88</a:t>
            </a:r>
            <a:endParaRPr lang="en-US" sz="3600" dirty="0"/>
          </a:p>
        </p:txBody>
      </p:sp>
      <p:sp>
        <p:nvSpPr>
          <p:cNvPr id="14" name="Text 12"/>
          <p:cNvSpPr/>
          <p:nvPr/>
        </p:nvSpPr>
        <p:spPr>
          <a:xfrm>
            <a:off x="594360" y="5806440"/>
            <a:ext cx="246888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Audit events per run</a:t>
            </a:r>
            <a:endParaRPr lang="en-US" sz="1200" dirty="0"/>
          </a:p>
        </p:txBody>
      </p:sp>
      <p:sp>
        <p:nvSpPr>
          <p:cNvPr id="15" name="Text 13"/>
          <p:cNvSpPr/>
          <p:nvPr/>
        </p:nvSpPr>
        <p:spPr>
          <a:xfrm>
            <a:off x="3429000" y="5120640"/>
            <a:ext cx="2468880" cy="64008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21</a:t>
            </a:r>
            <a:endParaRPr lang="en-US" sz="3600" dirty="0"/>
          </a:p>
        </p:txBody>
      </p:sp>
      <p:sp>
        <p:nvSpPr>
          <p:cNvPr id="16" name="Text 14"/>
          <p:cNvSpPr/>
          <p:nvPr/>
        </p:nvSpPr>
        <p:spPr>
          <a:xfrm>
            <a:off x="3429000" y="5806440"/>
            <a:ext cx="246888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Clauses extracted</a:t>
            </a:r>
            <a:endParaRPr lang="en-US" sz="1200" dirty="0"/>
          </a:p>
        </p:txBody>
      </p:sp>
      <p:sp>
        <p:nvSpPr>
          <p:cNvPr id="17" name="Text 15"/>
          <p:cNvSpPr/>
          <p:nvPr/>
        </p:nvSpPr>
        <p:spPr>
          <a:xfrm>
            <a:off x="6263640" y="5120640"/>
            <a:ext cx="2468880" cy="64008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5</a:t>
            </a:r>
            <a:endParaRPr lang="en-US" sz="3600" dirty="0"/>
          </a:p>
        </p:txBody>
      </p:sp>
      <p:sp>
        <p:nvSpPr>
          <p:cNvPr id="18" name="Text 16"/>
          <p:cNvSpPr/>
          <p:nvPr/>
        </p:nvSpPr>
        <p:spPr>
          <a:xfrm>
            <a:off x="6263640" y="5806440"/>
            <a:ext cx="246888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Specialized agents</a:t>
            </a:r>
            <a:endParaRPr lang="en-US" sz="1200" dirty="0"/>
          </a:p>
        </p:txBody>
      </p:sp>
      <p:sp>
        <p:nvSpPr>
          <p:cNvPr id="19" name="Text 17"/>
          <p:cNvSpPr/>
          <p:nvPr/>
        </p:nvSpPr>
        <p:spPr>
          <a:xfrm>
            <a:off x="9098280" y="5120640"/>
            <a:ext cx="2468880" cy="64008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1</a:t>
            </a:r>
            <a:endParaRPr lang="en-US" sz="3600" dirty="0"/>
          </a:p>
        </p:txBody>
      </p:sp>
      <p:sp>
        <p:nvSpPr>
          <p:cNvPr id="20" name="Text 18"/>
          <p:cNvSpPr/>
          <p:nvPr/>
        </p:nvSpPr>
        <p:spPr>
          <a:xfrm>
            <a:off x="9098280" y="5806440"/>
            <a:ext cx="2468880" cy="36576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Verifier finding caught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548640"/>
            <a:ext cx="10972800" cy="64008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Why these choices</a:t>
            </a:r>
            <a:endParaRPr lang="en-US" sz="3600" dirty="0"/>
          </a:p>
        </p:txBody>
      </p:sp>
      <p:sp>
        <p:nvSpPr>
          <p:cNvPr id="3" name="Text 1"/>
          <p:cNvSpPr/>
          <p:nvPr/>
        </p:nvSpPr>
        <p:spPr>
          <a:xfrm>
            <a:off x="731520" y="1325880"/>
            <a:ext cx="10515600" cy="457200"/>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Architectural decisions an interviewer might reasonably probe.</a:t>
            </a:r>
            <a:endParaRPr lang="en-US" sz="1500" dirty="0"/>
          </a:p>
        </p:txBody>
      </p:sp>
      <p:sp>
        <p:nvSpPr>
          <p:cNvPr id="4" name="Shape 2"/>
          <p:cNvSpPr/>
          <p:nvPr/>
        </p:nvSpPr>
        <p:spPr>
          <a:xfrm>
            <a:off x="731520" y="2103120"/>
            <a:ext cx="5349240" cy="2011680"/>
          </a:xfrm>
          <a:prstGeom prst="rect">
            <a:avLst/>
          </a:prstGeom>
          <a:solidFill>
            <a:srgbClr val="FFFFFF"/>
          </a:solidFill>
          <a:ln w="12700">
            <a:solidFill>
              <a:srgbClr val="E2E8F0"/>
            </a:solidFill>
            <a:prstDash val="solid"/>
          </a:ln>
        </p:spPr>
      </p:sp>
      <p:sp>
        <p:nvSpPr>
          <p:cNvPr id="5" name="Shape 3"/>
          <p:cNvSpPr/>
          <p:nvPr/>
        </p:nvSpPr>
        <p:spPr>
          <a:xfrm>
            <a:off x="731520" y="2103120"/>
            <a:ext cx="73152" cy="2011680"/>
          </a:xfrm>
          <a:prstGeom prst="rect">
            <a:avLst/>
          </a:prstGeom>
          <a:solidFill>
            <a:srgbClr val="1E2761"/>
          </a:solidFill>
          <a:ln w="12700">
            <a:solidFill>
              <a:srgbClr val="1E2761"/>
            </a:solidFill>
            <a:prstDash val="solid"/>
          </a:ln>
        </p:spPr>
      </p:sp>
      <p:sp>
        <p:nvSpPr>
          <p:cNvPr id="6" name="Text 4"/>
          <p:cNvSpPr/>
          <p:nvPr/>
        </p:nvSpPr>
        <p:spPr>
          <a:xfrm>
            <a:off x="1051560" y="2331720"/>
            <a:ext cx="489204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LangGraph over CrewAI / AutoGen</a:t>
            </a:r>
            <a:endParaRPr lang="en-US" sz="1700" dirty="0"/>
          </a:p>
        </p:txBody>
      </p:sp>
      <p:sp>
        <p:nvSpPr>
          <p:cNvPr id="7" name="Text 5"/>
          <p:cNvSpPr/>
          <p:nvPr/>
        </p:nvSpPr>
        <p:spPr>
          <a:xfrm>
            <a:off x="1051560" y="2880360"/>
            <a:ext cx="4892040" cy="109728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This pipeline is a state machine with conditional routing and a hard pause-and-resume requirement. LangGraph's checkpointer + interrupt_before model that exactly. CrewAI optimizes for agents that decide their own order; AutoGen for multi-turn conversations. Both would mean fighting the framework.</a:t>
            </a:r>
            <a:endParaRPr lang="en-US" sz="1100" dirty="0"/>
          </a:p>
        </p:txBody>
      </p:sp>
      <p:sp>
        <p:nvSpPr>
          <p:cNvPr id="8" name="Shape 6"/>
          <p:cNvSpPr/>
          <p:nvPr/>
        </p:nvSpPr>
        <p:spPr>
          <a:xfrm>
            <a:off x="6355080" y="2103120"/>
            <a:ext cx="5349240" cy="2011680"/>
          </a:xfrm>
          <a:prstGeom prst="rect">
            <a:avLst/>
          </a:prstGeom>
          <a:solidFill>
            <a:srgbClr val="FFFFFF"/>
          </a:solidFill>
          <a:ln w="12700">
            <a:solidFill>
              <a:srgbClr val="E2E8F0"/>
            </a:solidFill>
            <a:prstDash val="solid"/>
          </a:ln>
        </p:spPr>
      </p:sp>
      <p:sp>
        <p:nvSpPr>
          <p:cNvPr id="9" name="Shape 7"/>
          <p:cNvSpPr/>
          <p:nvPr/>
        </p:nvSpPr>
        <p:spPr>
          <a:xfrm>
            <a:off x="6355080" y="2103120"/>
            <a:ext cx="73152" cy="2011680"/>
          </a:xfrm>
          <a:prstGeom prst="rect">
            <a:avLst/>
          </a:prstGeom>
          <a:solidFill>
            <a:srgbClr val="1E2761"/>
          </a:solidFill>
          <a:ln w="12700">
            <a:solidFill>
              <a:srgbClr val="1E2761"/>
            </a:solidFill>
            <a:prstDash val="solid"/>
          </a:ln>
        </p:spPr>
      </p:sp>
      <p:sp>
        <p:nvSpPr>
          <p:cNvPr id="10" name="Text 8"/>
          <p:cNvSpPr/>
          <p:nvPr/>
        </p:nvSpPr>
        <p:spPr>
          <a:xfrm>
            <a:off x="6675120" y="2331720"/>
            <a:ext cx="489204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Independent verifier, not self-critique</a:t>
            </a:r>
            <a:endParaRPr lang="en-US" sz="1700" dirty="0"/>
          </a:p>
        </p:txBody>
      </p:sp>
      <p:sp>
        <p:nvSpPr>
          <p:cNvPr id="11" name="Text 9"/>
          <p:cNvSpPr/>
          <p:nvPr/>
        </p:nvSpPr>
        <p:spPr>
          <a:xfrm>
            <a:off x="6675120" y="2880360"/>
            <a:ext cx="4892040" cy="109728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Asking the same agent to grade its own output fails the way human self-grading fails. A verifier with a different prompt catches a different distribution of errors. The mechanical “is this quote in the source?” check catches the most common hallucination without any LLM call.</a:t>
            </a:r>
            <a:endParaRPr lang="en-US" sz="1100" dirty="0"/>
          </a:p>
        </p:txBody>
      </p:sp>
      <p:sp>
        <p:nvSpPr>
          <p:cNvPr id="12" name="Shape 10"/>
          <p:cNvSpPr/>
          <p:nvPr/>
        </p:nvSpPr>
        <p:spPr>
          <a:xfrm>
            <a:off x="731520" y="4343400"/>
            <a:ext cx="5349240" cy="2011680"/>
          </a:xfrm>
          <a:prstGeom prst="rect">
            <a:avLst/>
          </a:prstGeom>
          <a:solidFill>
            <a:srgbClr val="FFFFFF"/>
          </a:solidFill>
          <a:ln w="12700">
            <a:solidFill>
              <a:srgbClr val="E2E8F0"/>
            </a:solidFill>
            <a:prstDash val="solid"/>
          </a:ln>
        </p:spPr>
      </p:sp>
      <p:sp>
        <p:nvSpPr>
          <p:cNvPr id="13" name="Shape 11"/>
          <p:cNvSpPr/>
          <p:nvPr/>
        </p:nvSpPr>
        <p:spPr>
          <a:xfrm>
            <a:off x="731520" y="4343400"/>
            <a:ext cx="73152" cy="2011680"/>
          </a:xfrm>
          <a:prstGeom prst="rect">
            <a:avLst/>
          </a:prstGeom>
          <a:solidFill>
            <a:srgbClr val="1E2761"/>
          </a:solidFill>
          <a:ln w="12700">
            <a:solidFill>
              <a:srgbClr val="1E2761"/>
            </a:solidFill>
            <a:prstDash val="solid"/>
          </a:ln>
        </p:spPr>
      </p:sp>
      <p:sp>
        <p:nvSpPr>
          <p:cNvPr id="14" name="Text 12"/>
          <p:cNvSpPr/>
          <p:nvPr/>
        </p:nvSpPr>
        <p:spPr>
          <a:xfrm>
            <a:off x="1051560" y="4572000"/>
            <a:ext cx="489204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Audit logging at the LLM chokepoint</a:t>
            </a:r>
            <a:endParaRPr lang="en-US" sz="1700" dirty="0"/>
          </a:p>
        </p:txBody>
      </p:sp>
      <p:sp>
        <p:nvSpPr>
          <p:cNvPr id="15" name="Text 13"/>
          <p:cNvSpPr/>
          <p:nvPr/>
        </p:nvSpPr>
        <p:spPr>
          <a:xfrm>
            <a:off x="1051560" y="5120640"/>
            <a:ext cx="4892040" cy="109728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All agents call src/llm.py:call_llm. There is no path that calls Anthropic directly. The audit log is therefore complete by construction, not by discipline. “How do you guarantee the log is complete” is answerable in one sentence.</a:t>
            </a:r>
            <a:endParaRPr lang="en-US" sz="1100" dirty="0"/>
          </a:p>
        </p:txBody>
      </p:sp>
      <p:sp>
        <p:nvSpPr>
          <p:cNvPr id="16" name="Shape 14"/>
          <p:cNvSpPr/>
          <p:nvPr/>
        </p:nvSpPr>
        <p:spPr>
          <a:xfrm>
            <a:off x="6355080" y="4343400"/>
            <a:ext cx="5349240" cy="2011680"/>
          </a:xfrm>
          <a:prstGeom prst="rect">
            <a:avLst/>
          </a:prstGeom>
          <a:solidFill>
            <a:srgbClr val="FFFFFF"/>
          </a:solidFill>
          <a:ln w="12700">
            <a:solidFill>
              <a:srgbClr val="E2E8F0"/>
            </a:solidFill>
            <a:prstDash val="solid"/>
          </a:ln>
        </p:spPr>
      </p:sp>
      <p:sp>
        <p:nvSpPr>
          <p:cNvPr id="17" name="Shape 15"/>
          <p:cNvSpPr/>
          <p:nvPr/>
        </p:nvSpPr>
        <p:spPr>
          <a:xfrm>
            <a:off x="6355080" y="4343400"/>
            <a:ext cx="73152" cy="2011680"/>
          </a:xfrm>
          <a:prstGeom prst="rect">
            <a:avLst/>
          </a:prstGeom>
          <a:solidFill>
            <a:srgbClr val="1E2761"/>
          </a:solidFill>
          <a:ln w="12700">
            <a:solidFill>
              <a:srgbClr val="1E2761"/>
            </a:solidFill>
            <a:prstDash val="solid"/>
          </a:ln>
        </p:spPr>
      </p:sp>
      <p:sp>
        <p:nvSpPr>
          <p:cNvPr id="18" name="Text 16"/>
          <p:cNvSpPr/>
          <p:nvPr/>
        </p:nvSpPr>
        <p:spPr>
          <a:xfrm>
            <a:off x="6675120" y="4572000"/>
            <a:ext cx="489204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Prompt versions in every audit row</a:t>
            </a:r>
            <a:endParaRPr lang="en-US" sz="1700" dirty="0"/>
          </a:p>
        </p:txBody>
      </p:sp>
      <p:sp>
        <p:nvSpPr>
          <p:cNvPr id="19" name="Text 17"/>
          <p:cNvSpPr/>
          <p:nvPr/>
        </p:nvSpPr>
        <p:spPr>
          <a:xfrm>
            <a:off x="6675120" y="5120640"/>
            <a:ext cx="4892040" cy="109728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Every LLM call records the prompt version active at call time. The audit log can be filtered by prompt generation. This is the simplest thing that lets you answer “what changed between these two runs” — the contract a real prompt registry would honor.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38"/>
        </a:solidFill>
      </p:bgPr>
    </p:bg>
    <p:spTree>
      <p:nvGrpSpPr>
        <p:cNvPr id="1" name=""/>
        <p:cNvGrpSpPr/>
        <p:nvPr/>
      </p:nvGrpSpPr>
      <p:grpSpPr>
        <a:xfrm>
          <a:off x="0" y="0"/>
          <a:ext cx="0" cy="0"/>
          <a:chOff x="0" y="0"/>
          <a:chExt cx="0" cy="0"/>
        </a:xfrm>
      </p:grpSpPr>
      <p:sp>
        <p:nvSpPr>
          <p:cNvPr id="2" name="Text 0"/>
          <p:cNvSpPr/>
          <p:nvPr/>
        </p:nvSpPr>
        <p:spPr>
          <a:xfrm>
            <a:off x="731520" y="54864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Intentional limits, and what's next</a:t>
            </a:r>
            <a:endParaRPr lang="en-US" sz="3200" dirty="0"/>
          </a:p>
        </p:txBody>
      </p:sp>
      <p:sp>
        <p:nvSpPr>
          <p:cNvPr id="3" name="Text 1"/>
          <p:cNvSpPr/>
          <p:nvPr/>
        </p:nvSpPr>
        <p:spPr>
          <a:xfrm>
            <a:off x="731520" y="1371600"/>
            <a:ext cx="1051560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This is a working demonstration of architecture and controls — not a production system. Honest about where it stops.</a:t>
            </a:r>
            <a:endParaRPr lang="en-US" sz="1500" dirty="0"/>
          </a:p>
        </p:txBody>
      </p:sp>
      <p:sp>
        <p:nvSpPr>
          <p:cNvPr id="4" name="Text 2"/>
          <p:cNvSpPr/>
          <p:nvPr/>
        </p:nvSpPr>
        <p:spPr>
          <a:xfrm>
            <a:off x="731520" y="2377440"/>
            <a:ext cx="5303520" cy="274320"/>
          </a:xfrm>
          <a:prstGeom prst="rect">
            <a:avLst/>
          </a:prstGeom>
          <a:noFill/>
          <a:ln/>
        </p:spPr>
        <p:txBody>
          <a:bodyPr wrap="square" lIns="0" tIns="0" rIns="0" bIns="0"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OUT OF SCOPE</a:t>
            </a:r>
            <a:endParaRPr lang="en-US" sz="1100" dirty="0"/>
          </a:p>
        </p:txBody>
      </p:sp>
      <p:sp>
        <p:nvSpPr>
          <p:cNvPr id="5" name="Shape 3"/>
          <p:cNvSpPr/>
          <p:nvPr/>
        </p:nvSpPr>
        <p:spPr>
          <a:xfrm>
            <a:off x="731520" y="2990088"/>
            <a:ext cx="164592" cy="164592"/>
          </a:xfrm>
          <a:prstGeom prst="ellipse">
            <a:avLst/>
          </a:prstGeom>
          <a:solidFill>
            <a:srgbClr val="CADCFC">
              <a:alpha val="50000"/>
            </a:srgbClr>
          </a:solidFill>
          <a:ln w="12700">
            <a:solidFill>
              <a:srgbClr val="CADCFC"/>
            </a:solidFill>
            <a:prstDash val="solid"/>
          </a:ln>
        </p:spPr>
      </p:sp>
      <p:sp>
        <p:nvSpPr>
          <p:cNvPr id="6" name="Text 4"/>
          <p:cNvSpPr/>
          <p:nvPr/>
        </p:nvSpPr>
        <p:spPr>
          <a:xfrm>
            <a:off x="1051560" y="2880360"/>
            <a:ext cx="49377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PDF / DOCX ingestion (text in, text out)</a:t>
            </a:r>
            <a:endParaRPr lang="en-US" sz="1300" dirty="0"/>
          </a:p>
        </p:txBody>
      </p:sp>
      <p:sp>
        <p:nvSpPr>
          <p:cNvPr id="7" name="Shape 5"/>
          <p:cNvSpPr/>
          <p:nvPr/>
        </p:nvSpPr>
        <p:spPr>
          <a:xfrm>
            <a:off x="731520" y="3630168"/>
            <a:ext cx="164592" cy="164592"/>
          </a:xfrm>
          <a:prstGeom prst="ellipse">
            <a:avLst/>
          </a:prstGeom>
          <a:solidFill>
            <a:srgbClr val="CADCFC">
              <a:alpha val="50000"/>
            </a:srgbClr>
          </a:solidFill>
          <a:ln w="12700">
            <a:solidFill>
              <a:srgbClr val="CADCFC"/>
            </a:solidFill>
            <a:prstDash val="solid"/>
          </a:ln>
        </p:spPr>
      </p:sp>
      <p:sp>
        <p:nvSpPr>
          <p:cNvPr id="8" name="Text 6"/>
          <p:cNvSpPr/>
          <p:nvPr/>
        </p:nvSpPr>
        <p:spPr>
          <a:xfrm>
            <a:off x="1051560" y="3520440"/>
            <a:ext cx="49377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Production hardening (multi-tenant, SSO, RBAC)</a:t>
            </a:r>
            <a:endParaRPr lang="en-US" sz="1300" dirty="0"/>
          </a:p>
        </p:txBody>
      </p:sp>
      <p:sp>
        <p:nvSpPr>
          <p:cNvPr id="9" name="Shape 7"/>
          <p:cNvSpPr/>
          <p:nvPr/>
        </p:nvSpPr>
        <p:spPr>
          <a:xfrm>
            <a:off x="731520" y="4270248"/>
            <a:ext cx="164592" cy="164592"/>
          </a:xfrm>
          <a:prstGeom prst="ellipse">
            <a:avLst/>
          </a:prstGeom>
          <a:solidFill>
            <a:srgbClr val="CADCFC">
              <a:alpha val="50000"/>
            </a:srgbClr>
          </a:solidFill>
          <a:ln w="12700">
            <a:solidFill>
              <a:srgbClr val="CADCFC"/>
            </a:solidFill>
            <a:prstDash val="solid"/>
          </a:ln>
        </p:spPr>
      </p:sp>
      <p:sp>
        <p:nvSpPr>
          <p:cNvPr id="10" name="Text 8"/>
          <p:cNvSpPr/>
          <p:nvPr/>
        </p:nvSpPr>
        <p:spPr>
          <a:xfrm>
            <a:off x="1051560" y="4160520"/>
            <a:ext cx="49377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Sample playbook — real deployment uses client-specific positions</a:t>
            </a:r>
            <a:endParaRPr lang="en-US" sz="1300" dirty="0"/>
          </a:p>
        </p:txBody>
      </p:sp>
      <p:sp>
        <p:nvSpPr>
          <p:cNvPr id="11" name="Shape 9"/>
          <p:cNvSpPr/>
          <p:nvPr/>
        </p:nvSpPr>
        <p:spPr>
          <a:xfrm>
            <a:off x="731520" y="4910328"/>
            <a:ext cx="164592" cy="164592"/>
          </a:xfrm>
          <a:prstGeom prst="ellipse">
            <a:avLst/>
          </a:prstGeom>
          <a:solidFill>
            <a:srgbClr val="CADCFC">
              <a:alpha val="50000"/>
            </a:srgbClr>
          </a:solidFill>
          <a:ln w="12700">
            <a:solidFill>
              <a:srgbClr val="CADCFC"/>
            </a:solidFill>
            <a:prstDash val="solid"/>
          </a:ln>
        </p:spPr>
      </p:sp>
      <p:sp>
        <p:nvSpPr>
          <p:cNvPr id="12" name="Text 10"/>
          <p:cNvSpPr/>
          <p:nvPr/>
        </p:nvSpPr>
        <p:spPr>
          <a:xfrm>
            <a:off x="1051560" y="4800600"/>
            <a:ext cx="493776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5-minute runtime — parallelizable, not yet parallelized</a:t>
            </a:r>
            <a:endParaRPr lang="en-US" sz="1300" dirty="0"/>
          </a:p>
        </p:txBody>
      </p:sp>
      <p:sp>
        <p:nvSpPr>
          <p:cNvPr id="13" name="Shape 11"/>
          <p:cNvSpPr/>
          <p:nvPr/>
        </p:nvSpPr>
        <p:spPr>
          <a:xfrm>
            <a:off x="6263640" y="2377440"/>
            <a:ext cx="0" cy="3840480"/>
          </a:xfrm>
          <a:prstGeom prst="line">
            <a:avLst/>
          </a:prstGeom>
          <a:noFill/>
          <a:ln w="9525">
            <a:solidFill>
              <a:srgbClr val="CADCFC"/>
            </a:solidFill>
            <a:prstDash val="solid"/>
          </a:ln>
        </p:spPr>
      </p:sp>
      <p:sp>
        <p:nvSpPr>
          <p:cNvPr id="14" name="Text 12"/>
          <p:cNvSpPr/>
          <p:nvPr/>
        </p:nvSpPr>
        <p:spPr>
          <a:xfrm>
            <a:off x="6492240" y="2377440"/>
            <a:ext cx="5303520" cy="274320"/>
          </a:xfrm>
          <a:prstGeom prst="rect">
            <a:avLst/>
          </a:prstGeom>
          <a:noFill/>
          <a:ln/>
        </p:spPr>
        <p:txBody>
          <a:bodyPr wrap="square" lIns="0" tIns="0" rIns="0" bIns="0" rtlCol="0" anchor="ctr"/>
          <a:lstStyle/>
          <a:p>
            <a:pPr indent="0" marL="0">
              <a:buNone/>
            </a:pPr>
            <a:r>
              <a:rPr lang="en-US" sz="1100" b="1" spc="400" kern="0" dirty="0">
                <a:solidFill>
                  <a:srgbClr val="CADCFC"/>
                </a:solidFill>
                <a:latin typeface="Calibri" pitchFamily="34" charset="0"/>
                <a:ea typeface="Calibri" pitchFamily="34" charset="-122"/>
                <a:cs typeface="Calibri" pitchFamily="34" charset="-120"/>
              </a:rPr>
              <a:t>PLANNED NEXT</a:t>
            </a:r>
            <a:endParaRPr lang="en-US" sz="1100" dirty="0"/>
          </a:p>
        </p:txBody>
      </p:sp>
      <p:sp>
        <p:nvSpPr>
          <p:cNvPr id="15" name="Text 13"/>
          <p:cNvSpPr/>
          <p:nvPr/>
        </p:nvSpPr>
        <p:spPr>
          <a:xfrm>
            <a:off x="6492240" y="2880360"/>
            <a:ext cx="50292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Citation / hallucination verifier</a:t>
            </a:r>
            <a:endParaRPr lang="en-US" sz="1500" dirty="0"/>
          </a:p>
        </p:txBody>
      </p:sp>
      <p:sp>
        <p:nvSpPr>
          <p:cNvPr id="16" name="Text 14"/>
          <p:cNvSpPr/>
          <p:nvPr/>
        </p:nvSpPr>
        <p:spPr>
          <a:xfrm>
            <a:off x="6492240" y="3264408"/>
            <a:ext cx="5029200" cy="50292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Standalone tool — drops alongside any LLM-based legal product.</a:t>
            </a:r>
            <a:endParaRPr lang="en-US" sz="1200" dirty="0"/>
          </a:p>
        </p:txBody>
      </p:sp>
      <p:sp>
        <p:nvSpPr>
          <p:cNvPr id="17" name="Text 15"/>
          <p:cNvSpPr/>
          <p:nvPr/>
        </p:nvSpPr>
        <p:spPr>
          <a:xfrm>
            <a:off x="6492240" y="3931920"/>
            <a:ext cx="50292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AI governance audit logger</a:t>
            </a:r>
            <a:endParaRPr lang="en-US" sz="1500" dirty="0"/>
          </a:p>
        </p:txBody>
      </p:sp>
      <p:sp>
        <p:nvSpPr>
          <p:cNvPr id="18" name="Text 16"/>
          <p:cNvSpPr/>
          <p:nvPr/>
        </p:nvSpPr>
        <p:spPr>
          <a:xfrm>
            <a:off x="6492240" y="4315968"/>
            <a:ext cx="5029200" cy="50292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The audit chokepoint pattern, packaged for cross-team adoption.</a:t>
            </a:r>
            <a:endParaRPr lang="en-US" sz="1200" dirty="0"/>
          </a:p>
        </p:txBody>
      </p:sp>
      <p:sp>
        <p:nvSpPr>
          <p:cNvPr id="19" name="Text 17"/>
          <p:cNvSpPr/>
          <p:nvPr/>
        </p:nvSpPr>
        <p:spPr>
          <a:xfrm>
            <a:off x="6492240" y="4983480"/>
            <a:ext cx="50292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Regulatory change monitor</a:t>
            </a:r>
            <a:endParaRPr lang="en-US" sz="1500" dirty="0"/>
          </a:p>
        </p:txBody>
      </p:sp>
      <p:sp>
        <p:nvSpPr>
          <p:cNvPr id="20" name="Text 18"/>
          <p:cNvSpPr/>
          <p:nvPr/>
        </p:nvSpPr>
        <p:spPr>
          <a:xfrm>
            <a:off x="6492240" y="5367528"/>
            <a:ext cx="5029200" cy="50292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EU AI Act / state AI laws → impact analysis against client policies.</a:t>
            </a:r>
            <a:endParaRPr lang="en-US" sz="1200" dirty="0"/>
          </a:p>
        </p:txBody>
      </p:sp>
      <p:sp>
        <p:nvSpPr>
          <p:cNvPr id="21" name="Shape 19"/>
          <p:cNvSpPr/>
          <p:nvPr/>
        </p:nvSpPr>
        <p:spPr>
          <a:xfrm>
            <a:off x="731520" y="6355080"/>
            <a:ext cx="10698480" cy="0"/>
          </a:xfrm>
          <a:prstGeom prst="line">
            <a:avLst/>
          </a:prstGeom>
          <a:noFill/>
          <a:ln w="6350">
            <a:solidFill>
              <a:srgbClr val="CADCFC"/>
            </a:solidFill>
            <a:prstDash val="solid"/>
          </a:ln>
        </p:spPr>
      </p:sp>
      <p:sp>
        <p:nvSpPr>
          <p:cNvPr id="22" name="Text 20"/>
          <p:cNvSpPr/>
          <p:nvPr/>
        </p:nvSpPr>
        <p:spPr>
          <a:xfrm>
            <a:off x="731520" y="6446520"/>
            <a:ext cx="10698480" cy="27432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Repository: github.com/david-yamin-esq/agentic-contract-review</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Contract Review</dc:title>
  <dc:subject>PptxGenJS Presentation</dc:subject>
  <dc:creator>David Yamin</dc:creator>
  <cp:lastModifiedBy>David Yamin</cp:lastModifiedBy>
  <cp:revision>1</cp:revision>
  <dcterms:created xsi:type="dcterms:W3CDTF">2026-05-07T17:39:08Z</dcterms:created>
  <dcterms:modified xsi:type="dcterms:W3CDTF">2026-05-07T17:39:08Z</dcterms:modified>
</cp:coreProperties>
</file>